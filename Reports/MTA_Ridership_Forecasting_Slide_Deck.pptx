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3E1A60-537F-423A-A35F-02809799A0DC}">
  <a:tblStyle styleId="{CF3E1A60-537F-423A-A35F-02809799A0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21" Type="http://schemas.openxmlformats.org/officeDocument/2006/relationships/slide" Target="slides/slide14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b39683055_2_2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db39683055_2_2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db39683055_2_2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b39683055_2_1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g3db39683055_2_1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g3db39683055_2_1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39683055_2_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b39683055_2_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db39683055_2_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b39683055_2_89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g3db39683055_2_89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db39683055_2_89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b39683055_2_12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db39683055_2_12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db39683055_2_12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b39683055_2_133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b39683055_2_133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db39683055_2_133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db39683055_2_148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g3db39683055_2_148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db39683055_2_148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db39683055_2_18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db39683055_2_18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db39683055_2_18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b39683055_2_217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g3db39683055_2_217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g3db39683055_2_217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db39683055_2_251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g3db39683055_2_251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3db39683055_2_251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b39683055_2_266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g3db39683055_2_266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db39683055_2_266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b39683055_2_28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g3db39683055_2_28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db39683055_2_28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db39683055_2_30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g3db39683055_2_30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g3db39683055_2_30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db39683055_2_345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db39683055_2_345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db39683055_2_345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411480" y="34290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CAPSTONE TWO  ·  FINAL PRESENTATION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5486400" y="34290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APRIL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480060" y="1234440"/>
            <a:ext cx="68580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SUBWAY RIDERSHIP  ·  FORECASTING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411480" y="1508760"/>
            <a:ext cx="8229600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Predicting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next hour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100"/>
              <a:buFont typeface="Cambria"/>
              <a:buNone/>
            </a:pP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of the </a:t>
            </a:r>
            <a:r>
              <a:rPr b="0" i="1" lang="en" sz="41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subway</a:t>
            </a:r>
            <a:r>
              <a:rPr b="0" i="0" lang="en" sz="41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endParaRPr b="0" i="0" sz="4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80060" y="4149090"/>
            <a:ext cx="5829300" cy="3771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A station-by-station, hour-by-hour ridership model for the MTA, built on roughly two years of fare-tap data spanning 2022–2024.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2" name="Google Shape;62;p15"/>
          <p:cNvCxnSpPr/>
          <p:nvPr/>
        </p:nvCxnSpPr>
        <p:spPr>
          <a:xfrm>
            <a:off x="480060" y="456057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15"/>
          <p:cNvSpPr/>
          <p:nvPr/>
        </p:nvSpPr>
        <p:spPr>
          <a:xfrm>
            <a:off x="48006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AUTHOR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48006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ESH S. 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342900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342900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GITHUB.COM/ESHCHHURA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6583680" y="4649724"/>
            <a:ext cx="27432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FINAL MODEL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583680" y="4814316"/>
            <a:ext cx="2743200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R² 0.981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01  ·  PROBLEM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problem,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who I built this for.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480060" y="15430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480060" y="17487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The MTA moves several million riders a day. Frequency and staffing decisions are largely made from historical averages and experience. I wanted to see how far a model trained on two years of fare-tap data could push that.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480060" y="25717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THE QUESTION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80060" y="27774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Given a station and a specific hour, can I predict how many riders will tap in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accurately enough that the MTA could actually plan around the answer?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480060" y="3600450"/>
            <a:ext cx="4457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WHO THIS IS FOR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480060" y="3806190"/>
            <a:ext cx="4526280" cy="754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MTA operations and planning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: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people deciding how many trains to run at 5 PM Tuesday, or where to station an agent during a holiday week. They care about accuracy at the station-hour grain, behavior at the peaks, and stability over time.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16"/>
          <p:cNvCxnSpPr/>
          <p:nvPr/>
        </p:nvCxnSpPr>
        <p:spPr>
          <a:xfrm>
            <a:off x="5486400" y="15773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" name="Google Shape;84;p16"/>
          <p:cNvSpPr/>
          <p:nvPr/>
        </p:nvSpPr>
        <p:spPr>
          <a:xfrm>
            <a:off x="5486400" y="16802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51M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5486400" y="23660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HOURLY TAP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7303770" y="15773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16"/>
          <p:cNvSpPr/>
          <p:nvPr/>
        </p:nvSpPr>
        <p:spPr>
          <a:xfrm>
            <a:off x="7303770" y="16802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431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7303770" y="23660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STATION IDS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9" name="Google Shape;89;p16"/>
          <p:cNvCxnSpPr/>
          <p:nvPr/>
        </p:nvCxnSpPr>
        <p:spPr>
          <a:xfrm>
            <a:off x="5486400" y="29489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0" name="Google Shape;90;p16"/>
          <p:cNvSpPr/>
          <p:nvPr/>
        </p:nvSpPr>
        <p:spPr>
          <a:xfrm>
            <a:off x="5486400" y="30518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~2 yrs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5486400" y="37376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2022 → MAY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16"/>
          <p:cNvCxnSpPr/>
          <p:nvPr/>
        </p:nvCxnSpPr>
        <p:spPr>
          <a:xfrm>
            <a:off x="7303770" y="2948940"/>
            <a:ext cx="164592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" name="Google Shape;93;p16"/>
          <p:cNvSpPr/>
          <p:nvPr/>
        </p:nvSpPr>
        <p:spPr>
          <a:xfrm>
            <a:off x="7303770" y="3051810"/>
            <a:ext cx="164592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300"/>
              <a:buFont typeface="Cambria"/>
              <a:buNone/>
            </a:pPr>
            <a:r>
              <a:rPr b="0" i="0" lang="en" sz="3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7303770" y="373761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BOROUGHS COVERED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16"/>
          <p:cNvCxnSpPr/>
          <p:nvPr/>
        </p:nvCxnSpPr>
        <p:spPr>
          <a:xfrm>
            <a:off x="480060" y="449199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16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02  ·  DATA SOURCE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data,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where it came from.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7"/>
          <p:cNvSpPr/>
          <p:nvPr/>
        </p:nvSpPr>
        <p:spPr>
          <a:xfrm>
            <a:off x="480060" y="157734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SOURCE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80060" y="178308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MTA Subway Hourly Ridership 2022–2024 on Kaggle, originally pulled from the MTA public open-data portal. Each row represents one station, one hour, one fare class, and one payment method, so a single hour at a busy station can produce a dozen+ rows depending on how riders paid.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80060" y="264033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WHAT'S IN A ROW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80060" y="284607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Twelve columns total. Useful raw fields: timestamp, station ID, borough, payment method (OMNY or MetroCard), fare class, ridership count, transfers, and lat/long. The redundant geo-string was dropped early.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/>
          <p:nvPr/>
        </p:nvSpPr>
        <p:spPr>
          <a:xfrm>
            <a:off x="480060" y="3703320"/>
            <a:ext cx="49377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SCALE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480060" y="3909060"/>
            <a:ext cx="5143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~51.2M rows from May 2022 through May 2024. After cleaning, aggregation, and lag-feature creation, the modeling table holds 7,542,884 station-hour rows.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6172200" y="1577340"/>
            <a:ext cx="25374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SCHEMA  ·  RAW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17"/>
          <p:cNvCxnSpPr/>
          <p:nvPr/>
        </p:nvCxnSpPr>
        <p:spPr>
          <a:xfrm>
            <a:off x="6172200" y="1783080"/>
            <a:ext cx="253746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17"/>
          <p:cNvSpPr/>
          <p:nvPr/>
        </p:nvSpPr>
        <p:spPr>
          <a:xfrm>
            <a:off x="6172200" y="188595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transit_timestamp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7886700" y="188595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datetime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6172200" y="210540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transit_mode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7886700" y="210540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/>
          <p:nvPr/>
        </p:nvSpPr>
        <p:spPr>
          <a:xfrm>
            <a:off x="6172200" y="2324862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station_complex_id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7886700" y="2324862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6172200" y="2544318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station_complex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7886700" y="2544318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6172200" y="2763774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borough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7886700" y="2763774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6172200" y="298323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payment_method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7886700" y="298323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6172200" y="320268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fare_class_category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7886700" y="320268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6172200" y="3422142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ridership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7886700" y="3422142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172200" y="3641598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transfers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7886700" y="3641598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6172200" y="3861054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latitude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7886700" y="3861054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6172200" y="4080510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longitude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886700" y="408051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6172200" y="4299966"/>
            <a:ext cx="164592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Georeference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7886700" y="4299966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str (dropped)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03  ·  DATA WRANGLING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Cleaning, wrangling,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the bits I cut.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/>
          <p:nvPr/>
        </p:nvSpPr>
        <p:spPr>
          <a:xfrm>
            <a:off x="480060" y="157734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4200"/>
              <a:buFont typeface="Cambria"/>
              <a:buNone/>
            </a:pPr>
            <a:r>
              <a:rPr b="0" i="0" lang="en" sz="42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51.2M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480060" y="2228850"/>
            <a:ext cx="2057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RAW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2400300" y="1714500"/>
            <a:ext cx="41148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→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2880360" y="157734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200"/>
              <a:buFont typeface="Cambria"/>
              <a:buNone/>
            </a:pPr>
            <a:r>
              <a:rPr b="0" i="0" lang="en" sz="42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7.54M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2880360" y="2228850"/>
            <a:ext cx="2057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STATION-HOUR ROWS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5143500" y="1645920"/>
            <a:ext cx="3566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After aggregating from per–fare-class rows up to one row per station per hour, then adding lag features.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18"/>
          <p:cNvCxnSpPr/>
          <p:nvPr/>
        </p:nvCxnSpPr>
        <p:spPr>
          <a:xfrm>
            <a:off x="480060" y="27432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8"/>
          <p:cNvSpPr/>
          <p:nvPr/>
        </p:nvSpPr>
        <p:spPr>
          <a:xfrm>
            <a:off x="480060" y="2880360"/>
            <a:ext cx="41148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MAIN CLEANING STEPS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480060" y="3188970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960120" y="3188970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Load 4.6 GB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3429000" y="3188970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Memory-conscious dtypes; downcast ints; parse timestamp once.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480060" y="3477006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960120" y="3477006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Rename for clarity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3429000" y="3477006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station_complex_id → station_id, etc.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480060" y="3765042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960120" y="3765042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Aggregate to station-hour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3429000" y="3765042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Roll up by (timestamp, station_id); sum ridership.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480060" y="4053078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960120" y="4053078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Drop leakage columns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3429000" y="4053078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Remove redundant geo-string; drop fare-class detail.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80060" y="4341114"/>
            <a:ext cx="41148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960120" y="4341114"/>
            <a:ext cx="24003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Retain payment side-data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3429000" y="4341114"/>
            <a:ext cx="528066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Keep MetroCard / OMNY columns for separate analysis.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9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  ·  EXPLORATORY ANALYSIS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day has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two peaks</a:t>
            </a: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/>
          <p:nvPr/>
        </p:nvSpPr>
        <p:spPr>
          <a:xfrm>
            <a:off x="480060" y="1405890"/>
            <a:ext cx="82296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 weekdays, ridership shows a sharp 8 AM peak, a midday valley, and a slightly larger 5 PM peak. On weekends, both peaks disappear and the curve becomes a single broad ridge from late morning to early evening. Any model that ignores hour-of-day will struggle and that's exactly what the linear baselines did.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8102" y="2126001"/>
            <a:ext cx="6973500" cy="20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/>
          <p:nvPr/>
        </p:nvSpPr>
        <p:spPr>
          <a:xfrm>
            <a:off x="480060" y="4560570"/>
            <a:ext cx="82296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01    Illustrative shape of mean ridership by hour of day. Weekday curve shows the two-peak commuter pattern; weekend is gentler and shifts later.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04  ·  EXPLORATORY ANALYSIS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400"/>
              <a:buFont typeface="Cambria"/>
              <a:buNone/>
            </a:pPr>
            <a:r>
              <a:rPr b="0" i="0" lang="en" sz="2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Where the riders are, </a:t>
            </a:r>
            <a:r>
              <a:rPr b="0" i="1" lang="en" sz="24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and how they pay.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480060" y="1405890"/>
            <a:ext cx="41148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MANHATTAN DOMINATES VOLUME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480060" y="1611630"/>
            <a:ext cx="41148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Manhattan carries the highest per-station daily volume; Queens and Brooklyn split most of the rest. Staten Island barely registers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as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most of its transit is the ferry and the SIR.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2331720"/>
            <a:ext cx="4114800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/>
          <p:nvPr/>
        </p:nvSpPr>
        <p:spPr>
          <a:xfrm>
            <a:off x="4800600" y="1405890"/>
            <a:ext cx="39090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OMNY ADOPTION VARIES BY BOROUGH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4800600" y="1611630"/>
            <a:ext cx="39090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Manhattan riders use OMNY at nearly twice the rate of Staten Island riders. The pattern is directional but not strict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because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Brooklyn shows higher OMNY adoption than Queens despite Queens having higher per-station ridership.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0600" y="2331720"/>
            <a:ext cx="3909060" cy="2194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1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05  ·  FEATURE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Turning rows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into features.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0" name="Google Shape;210;p21"/>
          <p:cNvCxnSpPr/>
          <p:nvPr/>
        </p:nvCxnSpPr>
        <p:spPr>
          <a:xfrm>
            <a:off x="48006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21"/>
          <p:cNvSpPr/>
          <p:nvPr/>
        </p:nvSpPr>
        <p:spPr>
          <a:xfrm>
            <a:off x="48006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TIME FEATURES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006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Calendar context for every station-hour.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48006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hour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48006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day_of_week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0060" y="2750058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day_of_month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480060" y="3010662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month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480060" y="3271266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year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0060" y="353187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is_weekend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480060" y="379247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is_holiday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21"/>
          <p:cNvCxnSpPr/>
          <p:nvPr/>
        </p:nvCxnSpPr>
        <p:spPr>
          <a:xfrm>
            <a:off x="332613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21"/>
          <p:cNvSpPr/>
          <p:nvPr/>
        </p:nvSpPr>
        <p:spPr>
          <a:xfrm>
            <a:off x="332613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LAG FEATURES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332613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Three lags per station carry most of the signal.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332613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lag_1h  — same station, one hour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332613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lag_24h  — same station, day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/>
          <p:nvPr/>
        </p:nvSpPr>
        <p:spPr>
          <a:xfrm>
            <a:off x="3326130" y="2750058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lag_168h  — same station, week ago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6" name="Google Shape;226;p21"/>
          <p:cNvCxnSpPr/>
          <p:nvPr/>
        </p:nvCxnSpPr>
        <p:spPr>
          <a:xfrm>
            <a:off x="6172200" y="1508760"/>
            <a:ext cx="2743200" cy="0"/>
          </a:xfrm>
          <a:prstGeom prst="straightConnector1">
            <a:avLst/>
          </a:prstGeom>
          <a:noFill/>
          <a:ln cap="flat" cmpd="sng" w="15875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7" name="Google Shape;227;p21"/>
          <p:cNvSpPr/>
          <p:nvPr/>
        </p:nvSpPr>
        <p:spPr>
          <a:xfrm>
            <a:off x="6172200" y="1591056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ROLLING STATISTICS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/>
          <p:nvPr/>
        </p:nvSpPr>
        <p:spPr>
          <a:xfrm>
            <a:off x="6172200" y="1796796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Shifted by 1h so they never see the future.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6172200" y="2228850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rolling_mean_24h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/>
          <p:nvPr/>
        </p:nvSpPr>
        <p:spPr>
          <a:xfrm>
            <a:off x="6172200" y="2489454"/>
            <a:ext cx="27432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rolling_std_24h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1" name="Google Shape;231;p21"/>
          <p:cNvCxnSpPr/>
          <p:nvPr/>
        </p:nvCxnSpPr>
        <p:spPr>
          <a:xfrm>
            <a:off x="480060" y="421767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p21"/>
          <p:cNvSpPr/>
          <p:nvPr/>
        </p:nvSpPr>
        <p:spPr>
          <a:xfrm>
            <a:off x="480060" y="4306824"/>
            <a:ext cx="1371600" cy="1508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480060" y="4491990"/>
            <a:ext cx="82296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800"/>
              <a:buFont typeface="Cambria"/>
              <a:buNone/>
            </a:pPr>
            <a:r>
              <a:rPr b="0" i="0" lang="en" sz="8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OneHotEncoder(handle_unknown="ignore") for categoricals → sparse matrix → StandardScaler for numerics. Tree models don't need scaling, but the pipeline applies it uniformly so the comparison is fair.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2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06  ·  TRAIN / TEST SPLIT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2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2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400"/>
              <a:buFont typeface="Cambria"/>
              <a:buNone/>
            </a:pPr>
            <a:r>
              <a:rPr b="0" i="0" lang="en" sz="2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Time-aware splitting </a:t>
            </a:r>
            <a:r>
              <a:rPr b="0" i="1" lang="en" sz="24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to avoid leakage.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2"/>
          <p:cNvSpPr/>
          <p:nvPr/>
        </p:nvSpPr>
        <p:spPr>
          <a:xfrm>
            <a:off x="48006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This is a time series. A random shuffle would let the model see training rows from after the test rows it was trying to predict, which inflates every metric. I used a chronological 80/20 split, with three expanding-window backtest folds inside the training portion.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480060" y="198882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/>
          <p:nvPr/>
        </p:nvSpPr>
        <p:spPr>
          <a:xfrm>
            <a:off x="6652260" y="198882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MAY 2024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2"/>
          <p:cNvSpPr/>
          <p:nvPr/>
        </p:nvSpPr>
        <p:spPr>
          <a:xfrm>
            <a:off x="445770" y="216712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2"/>
          <p:cNvSpPr/>
          <p:nvPr/>
        </p:nvSpPr>
        <p:spPr>
          <a:xfrm>
            <a:off x="1234440" y="2194560"/>
            <a:ext cx="2990088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2"/>
          <p:cNvSpPr/>
          <p:nvPr/>
        </p:nvSpPr>
        <p:spPr>
          <a:xfrm>
            <a:off x="4224528" y="219456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2"/>
          <p:cNvSpPr/>
          <p:nvPr/>
        </p:nvSpPr>
        <p:spPr>
          <a:xfrm>
            <a:off x="4822546" y="2194560"/>
            <a:ext cx="3887114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2"/>
          <p:cNvSpPr/>
          <p:nvPr/>
        </p:nvSpPr>
        <p:spPr>
          <a:xfrm>
            <a:off x="445770" y="261289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1234440" y="2640330"/>
            <a:ext cx="3588106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2"/>
          <p:cNvSpPr/>
          <p:nvPr/>
        </p:nvSpPr>
        <p:spPr>
          <a:xfrm>
            <a:off x="4822546" y="264033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2"/>
          <p:cNvSpPr/>
          <p:nvPr/>
        </p:nvSpPr>
        <p:spPr>
          <a:xfrm>
            <a:off x="5420563" y="2640330"/>
            <a:ext cx="3289097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445770" y="305866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FOLD 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1234440" y="3086100"/>
            <a:ext cx="4186124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22"/>
          <p:cNvSpPr/>
          <p:nvPr/>
        </p:nvSpPr>
        <p:spPr>
          <a:xfrm>
            <a:off x="5420563" y="3086100"/>
            <a:ext cx="598018" cy="240030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2"/>
          <p:cNvSpPr/>
          <p:nvPr/>
        </p:nvSpPr>
        <p:spPr>
          <a:xfrm>
            <a:off x="6018581" y="3086100"/>
            <a:ext cx="2691080" cy="240030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2"/>
          <p:cNvSpPr/>
          <p:nvPr/>
        </p:nvSpPr>
        <p:spPr>
          <a:xfrm>
            <a:off x="445770" y="3504438"/>
            <a:ext cx="6858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FINAL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2"/>
          <p:cNvSpPr/>
          <p:nvPr/>
        </p:nvSpPr>
        <p:spPr>
          <a:xfrm>
            <a:off x="1234440" y="3531870"/>
            <a:ext cx="5980176" cy="240030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2"/>
          <p:cNvSpPr/>
          <p:nvPr/>
        </p:nvSpPr>
        <p:spPr>
          <a:xfrm>
            <a:off x="7214616" y="3531870"/>
            <a:ext cx="1495044" cy="240030"/>
          </a:xfrm>
          <a:prstGeom prst="rect">
            <a:avLst/>
          </a:prstGeom>
          <a:solidFill>
            <a:srgbClr val="8B4A3A"/>
          </a:solidFill>
          <a:ln cap="flat" cmpd="sng" w="12700">
            <a:solidFill>
              <a:srgbClr val="F2EC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1234440" y="4149090"/>
            <a:ext cx="171450" cy="123444"/>
          </a:xfrm>
          <a:prstGeom prst="rect">
            <a:avLst/>
          </a:prstGeom>
          <a:solidFill>
            <a:srgbClr val="137D77"/>
          </a:solidFill>
          <a:ln cap="flat" cmpd="sng" w="1270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145389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TRAIN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3086100" y="4149090"/>
            <a:ext cx="171450" cy="123444"/>
          </a:xfrm>
          <a:prstGeom prst="rect">
            <a:avLst/>
          </a:prstGeom>
          <a:solidFill>
            <a:srgbClr val="9CC4C1"/>
          </a:solidFill>
          <a:ln cap="flat" cmpd="sng" w="12700">
            <a:solidFill>
              <a:srgbClr val="9CC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2"/>
          <p:cNvSpPr/>
          <p:nvPr/>
        </p:nvSpPr>
        <p:spPr>
          <a:xfrm>
            <a:off x="330555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VALIDATION (BACKTEST)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4937760" y="4149090"/>
            <a:ext cx="171450" cy="123444"/>
          </a:xfrm>
          <a:prstGeom prst="rect">
            <a:avLst/>
          </a:prstGeom>
          <a:solidFill>
            <a:srgbClr val="8B4A3A"/>
          </a:solidFill>
          <a:ln cap="flat" cmpd="sng" w="12700">
            <a:solidFill>
              <a:srgbClr val="8B4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515721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HELD-OUT TEST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6789420" y="4149090"/>
            <a:ext cx="171450" cy="123444"/>
          </a:xfrm>
          <a:prstGeom prst="rect">
            <a:avLst/>
          </a:prstGeom>
          <a:solidFill>
            <a:srgbClr val="C9C2B5"/>
          </a:solidFill>
          <a:ln cap="flat" cmpd="sng" w="12700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22"/>
          <p:cNvSpPr/>
          <p:nvPr/>
        </p:nvSpPr>
        <p:spPr>
          <a:xfrm>
            <a:off x="7008876" y="4114800"/>
            <a:ext cx="1714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USED IN FINAL TRAIN FIT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480060" y="45262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02    Three expanding-window backtest folds inside the training portion. Gray segments after each validation window are still part of training data and were used when fitting the final model. The held-out test (20%) was only touched once, at the end.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07  ·  MODELS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09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Six families,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one clear winner.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48006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I tested six model families plus a baseline to map the boundary between models that can and cannot capture nonlinear time effects. Scored on MAE, RMSE, R², and WMAPE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. T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he last is volume-weighted, the right thing to watch when station traffic ranges from a handful to several thousand riders per hour.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2" name="Google Shape;282;p23"/>
          <p:cNvCxnSpPr/>
          <p:nvPr/>
        </p:nvCxnSpPr>
        <p:spPr>
          <a:xfrm>
            <a:off x="48006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" name="Google Shape;283;p23"/>
          <p:cNvSpPr/>
          <p:nvPr/>
        </p:nvSpPr>
        <p:spPr>
          <a:xfrm>
            <a:off x="48006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BASELINE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3"/>
          <p:cNvSpPr/>
          <p:nvPr/>
        </p:nvSpPr>
        <p:spPr>
          <a:xfrm>
            <a:off x="48006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Dummy mean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3"/>
          <p:cNvSpPr/>
          <p:nvPr/>
        </p:nvSpPr>
        <p:spPr>
          <a:xfrm>
            <a:off x="48006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Predict the global mean. The performance floor.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6" name="Google Shape;286;p23"/>
          <p:cNvCxnSpPr/>
          <p:nvPr/>
        </p:nvCxnSpPr>
        <p:spPr>
          <a:xfrm>
            <a:off x="332613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7" name="Google Shape;287;p23"/>
          <p:cNvSpPr/>
          <p:nvPr/>
        </p:nvSpPr>
        <p:spPr>
          <a:xfrm>
            <a:off x="332613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LINEAR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3"/>
          <p:cNvSpPr/>
          <p:nvPr/>
        </p:nvSpPr>
        <p:spPr>
          <a:xfrm>
            <a:off x="332613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Ridge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3"/>
          <p:cNvSpPr/>
          <p:nvPr/>
        </p:nvSpPr>
        <p:spPr>
          <a:xfrm>
            <a:off x="332613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Regularized linear regression. What time features alone can do.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0" name="Google Shape;290;p23"/>
          <p:cNvCxnSpPr/>
          <p:nvPr/>
        </p:nvCxnSpPr>
        <p:spPr>
          <a:xfrm>
            <a:off x="6172200" y="226314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" name="Google Shape;291;p23"/>
          <p:cNvSpPr/>
          <p:nvPr/>
        </p:nvSpPr>
        <p:spPr>
          <a:xfrm>
            <a:off x="6172200" y="233172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LINEAR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3"/>
          <p:cNvSpPr/>
          <p:nvPr/>
        </p:nvSpPr>
        <p:spPr>
          <a:xfrm>
            <a:off x="6172200" y="253746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SGD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3"/>
          <p:cNvSpPr/>
          <p:nvPr/>
        </p:nvSpPr>
        <p:spPr>
          <a:xfrm>
            <a:off x="6172200" y="288036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Same idea as Ridge, fit by stochastic gradient descent.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4" name="Google Shape;294;p23"/>
          <p:cNvCxnSpPr/>
          <p:nvPr/>
        </p:nvCxnSpPr>
        <p:spPr>
          <a:xfrm>
            <a:off x="480060" y="346329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23"/>
          <p:cNvSpPr/>
          <p:nvPr/>
        </p:nvSpPr>
        <p:spPr>
          <a:xfrm>
            <a:off x="48006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GLM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48006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Poisson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48006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Log-link GLM</a:t>
            </a:r>
            <a:r>
              <a:rPr i="1" lang="en" sz="800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: </a:t>
            </a: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natural for counts, but underperforms here due to overdispersion.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23"/>
          <p:cNvCxnSpPr/>
          <p:nvPr/>
        </p:nvCxnSpPr>
        <p:spPr>
          <a:xfrm>
            <a:off x="3326130" y="3463290"/>
            <a:ext cx="27432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" name="Google Shape;299;p23"/>
          <p:cNvSpPr/>
          <p:nvPr/>
        </p:nvSpPr>
        <p:spPr>
          <a:xfrm>
            <a:off x="332613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TREES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332613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XGBoost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332613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Gradient-boosted trees. Workhorse of tabular regression.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2" name="Google Shape;302;p23"/>
          <p:cNvCxnSpPr/>
          <p:nvPr/>
        </p:nvCxnSpPr>
        <p:spPr>
          <a:xfrm>
            <a:off x="6172200" y="3463290"/>
            <a:ext cx="27432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p23"/>
          <p:cNvSpPr/>
          <p:nvPr/>
        </p:nvSpPr>
        <p:spPr>
          <a:xfrm>
            <a:off x="6172200" y="353187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TREES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6172200" y="3737610"/>
            <a:ext cx="27432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1400"/>
              <a:buFont typeface="Cambria"/>
              <a:buNone/>
            </a:pPr>
            <a:r>
              <a:rPr b="0" i="0" lang="en" sz="14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LightGBM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6172200" y="4080510"/>
            <a:ext cx="2743200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Leaf-wise gradient boosting, faster on data this large.  ⟵ winner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07  ·  MODELS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4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4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comparison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table.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4"/>
          <p:cNvSpPr/>
          <p:nvPr/>
        </p:nvSpPr>
        <p:spPr>
          <a:xfrm>
            <a:off x="480060" y="1405890"/>
            <a:ext cx="48006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MAE  ·  RIDERS PER STATION-HOUR  ·  LOWER IS BETTER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7" name="Google Shape;31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1680210"/>
            <a:ext cx="4800600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4"/>
          <p:cNvSpPr/>
          <p:nvPr/>
        </p:nvSpPr>
        <p:spPr>
          <a:xfrm>
            <a:off x="5486400" y="140589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WHAT THE NUMBERS SAY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9" name="Google Shape;319;p24"/>
          <p:cNvGraphicFramePr/>
          <p:nvPr/>
        </p:nvGraphicFramePr>
        <p:xfrm>
          <a:off x="5486400" y="16802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{CF3E1A60-537F-423A-A35F-02809799A0DC}</a:tableStyleId>
              </a:tblPr>
              <a:tblGrid>
                <a:gridCol w="1508750"/>
                <a:gridCol w="582925"/>
                <a:gridCol w="582925"/>
                <a:gridCol w="548625"/>
              </a:tblGrid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R²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6457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6B645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WMAPE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LightGBM (final)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44.1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7D77"/>
                        </a:buClr>
                        <a:buSzPts val="800"/>
                        <a:buFont typeface="Calibri"/>
                        <a:buNone/>
                      </a:pPr>
                      <a:r>
                        <a:rPr b="1" lang="en" sz="800" u="none" cap="none" strike="noStrike">
                          <a:solidFill>
                            <a:srgbClr val="137D7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14.4%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(d8)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45.4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0.960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14.8%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LightGBM (lr.10)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46.2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0.959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15.1%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(d6)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48.8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0.955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Ridge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82.5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0.904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SGD (L2)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89.1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0.900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29.0%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  <a:tr h="219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Poisson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116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0.372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2A30"/>
                        </a:buClr>
                        <a:buSzPts val="800"/>
                        <a:buFont typeface="Calibri"/>
                        <a:buNone/>
                      </a:pPr>
                      <a:r>
                        <a:rPr lang="en" sz="800" u="none" cap="none" strike="noStrike">
                          <a:solidFill>
                            <a:srgbClr val="0F2A3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37.9%</a:t>
                      </a:r>
                      <a:endParaRPr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CD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9C2B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CDF"/>
                    </a:solidFill>
                  </a:tcPr>
                </a:tc>
              </a:tr>
            </a:tbl>
          </a:graphicData>
        </a:graphic>
      </p:graphicFrame>
      <p:sp>
        <p:nvSpPr>
          <p:cNvPr id="320" name="Google Shape;320;p24"/>
          <p:cNvSpPr/>
          <p:nvPr/>
        </p:nvSpPr>
        <p:spPr>
          <a:xfrm>
            <a:off x="5486400" y="3806190"/>
            <a:ext cx="32232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900"/>
              <a:buFont typeface="Cambria"/>
              <a:buNone/>
            </a:pPr>
            <a:r>
              <a:rPr b="0" i="1" lang="en" sz="9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Tree models cluster around R² 0.96; linear models hit a ceiling near R² 0.90 because the relationship between time and ridership is fundamentally nonlinear.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4"/>
          <p:cNvSpPr/>
          <p:nvPr/>
        </p:nvSpPr>
        <p:spPr>
          <a:xfrm>
            <a:off x="5486400" y="4491990"/>
            <a:ext cx="322326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Full RMSE values and dummy-baseline results are in the final report and Modeling notebook.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24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4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08  ·  BACKTESTING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5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5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Holding up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across time.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5"/>
          <p:cNvSpPr/>
          <p:nvPr/>
        </p:nvSpPr>
        <p:spPr>
          <a:xfrm>
            <a:off x="480060" y="1371600"/>
            <a:ext cx="548640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Validation results are encouraging, but they're one slice of time. The real question is whether the model holds up when the training window slides forward. I ran three sequential backtest folds and tracked R² and MAE on each.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6515100" y="1371600"/>
            <a:ext cx="2057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3600"/>
              <a:buFont typeface="Cambria"/>
              <a:buNone/>
            </a:pPr>
            <a:r>
              <a:rPr b="0" i="0" lang="en" sz="36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0.961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/>
          <p:nvPr/>
        </p:nvSpPr>
        <p:spPr>
          <a:xfrm>
            <a:off x="6515100" y="2023110"/>
            <a:ext cx="20574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MEAN R² ACROSS 3 FOLDS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5" name="Google Shape;33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2263140"/>
            <a:ext cx="8229600" cy="2263140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5"/>
          <p:cNvSpPr/>
          <p:nvPr/>
        </p:nvSpPr>
        <p:spPr>
          <a:xfrm>
            <a:off x="480060" y="4526280"/>
            <a:ext cx="8229600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03    R² across three time-ordered backtest folds. LightGBM holds near 0.96 with std dev 0.007; linear baselines sit near 0.90 with more drift between folds.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5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6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09  ·  FINAL  ·  TEST RESULTS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6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3000"/>
              <a:buFont typeface="Cambria"/>
              <a:buNone/>
            </a:pPr>
            <a:r>
              <a:rPr b="0" i="0" lang="en" sz="30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The final </a:t>
            </a:r>
            <a:r>
              <a:rPr b="0" i="1" lang="en" sz="30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scoreline.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7" name="Google Shape;347;p26"/>
          <p:cNvCxnSpPr/>
          <p:nvPr/>
        </p:nvCxnSpPr>
        <p:spPr>
          <a:xfrm>
            <a:off x="48006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8" name="Google Shape;348;p26"/>
          <p:cNvSpPr/>
          <p:nvPr/>
        </p:nvSpPr>
        <p:spPr>
          <a:xfrm>
            <a:off x="48006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36.4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48006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MAE  ·  PER STATION-HR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0" name="Google Shape;350;p26"/>
          <p:cNvCxnSpPr/>
          <p:nvPr/>
        </p:nvCxnSpPr>
        <p:spPr>
          <a:xfrm>
            <a:off x="260604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1" name="Google Shape;351;p26"/>
          <p:cNvSpPr/>
          <p:nvPr/>
        </p:nvSpPr>
        <p:spPr>
          <a:xfrm>
            <a:off x="260604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94.5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6"/>
          <p:cNvSpPr/>
          <p:nvPr/>
        </p:nvSpPr>
        <p:spPr>
          <a:xfrm>
            <a:off x="260604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RMSE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3" name="Google Shape;353;p26"/>
          <p:cNvCxnSpPr/>
          <p:nvPr/>
        </p:nvCxnSpPr>
        <p:spPr>
          <a:xfrm>
            <a:off x="473202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4" name="Google Shape;354;p26"/>
          <p:cNvSpPr/>
          <p:nvPr/>
        </p:nvSpPr>
        <p:spPr>
          <a:xfrm>
            <a:off x="473202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0.981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6"/>
          <p:cNvSpPr/>
          <p:nvPr/>
        </p:nvSpPr>
        <p:spPr>
          <a:xfrm>
            <a:off x="473202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R²  ·  HELD-OUT TEST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6" name="Google Shape;356;p26"/>
          <p:cNvCxnSpPr/>
          <p:nvPr/>
        </p:nvCxnSpPr>
        <p:spPr>
          <a:xfrm>
            <a:off x="6858000" y="17145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137D7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7" name="Google Shape;357;p26"/>
          <p:cNvSpPr/>
          <p:nvPr/>
        </p:nvSpPr>
        <p:spPr>
          <a:xfrm>
            <a:off x="6858000" y="1817370"/>
            <a:ext cx="205740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4500"/>
              <a:buFont typeface="Cambria"/>
              <a:buNone/>
            </a:pPr>
            <a:r>
              <a:rPr b="0" i="0" lang="en" sz="45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11.5%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6"/>
          <p:cNvSpPr/>
          <p:nvPr/>
        </p:nvSpPr>
        <p:spPr>
          <a:xfrm>
            <a:off x="6858000" y="2606040"/>
            <a:ext cx="205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WMAPE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9" name="Google Shape;359;p26"/>
          <p:cNvCxnSpPr/>
          <p:nvPr/>
        </p:nvCxnSpPr>
        <p:spPr>
          <a:xfrm>
            <a:off x="480060" y="342900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0" name="Google Shape;360;p26"/>
          <p:cNvSpPr/>
          <p:nvPr/>
        </p:nvSpPr>
        <p:spPr>
          <a:xfrm>
            <a:off x="480060" y="353187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FINAL CONFIGURATION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6"/>
          <p:cNvSpPr/>
          <p:nvPr/>
        </p:nvSpPr>
        <p:spPr>
          <a:xfrm>
            <a:off x="480060" y="373761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127 leaves  ·  learning rate 0.05  ·  300 trees  ·  min_child_samples 50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6"/>
          <p:cNvSpPr/>
          <p:nvPr/>
        </p:nvSpPr>
        <p:spPr>
          <a:xfrm>
            <a:off x="480060" y="408051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On the held-out 20% of the timeline </a:t>
            </a:r>
            <a:r>
              <a:rPr i="1"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that was</a:t>
            </a: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never touched during model selection or hyperparameter search</a:t>
            </a:r>
            <a:r>
              <a:rPr i="1"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,</a:t>
            </a:r>
            <a:r>
              <a:rPr b="0" i="1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model achieves an R² of 0.981 with MAE of 36.4 riders per station-hour. WMAPE of 11.5% means the model is off by about a tenth of actual volume on average.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6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7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09  ·  FINAL  ·  TEST RESULTS (CONT.)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7"/>
          <p:cNvSpPr/>
          <p:nvPr/>
        </p:nvSpPr>
        <p:spPr>
          <a:xfrm>
            <a:off x="3634740" y="274320"/>
            <a:ext cx="51435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PAGE 13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7"/>
          <p:cNvSpPr/>
          <p:nvPr/>
        </p:nvSpPr>
        <p:spPr>
          <a:xfrm>
            <a:off x="411480" y="685800"/>
            <a:ext cx="8366760" cy="6515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2700"/>
              <a:buFont typeface="Cambria"/>
              <a:buNone/>
            </a:pPr>
            <a:r>
              <a:rPr b="0" i="0" lang="en" sz="27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Where the </a:t>
            </a:r>
            <a:r>
              <a:rPr b="0" i="1" lang="en" sz="27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errors live.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3" name="Google Shape;37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" y="1440180"/>
            <a:ext cx="4800600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7"/>
          <p:cNvSpPr/>
          <p:nvPr/>
        </p:nvSpPr>
        <p:spPr>
          <a:xfrm>
            <a:off x="5486400" y="144018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PREDICTIONS VS. REALITY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7"/>
          <p:cNvSpPr/>
          <p:nvPr/>
        </p:nvSpPr>
        <p:spPr>
          <a:xfrm>
            <a:off x="5486400" y="1714500"/>
            <a:ext cx="3223260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This is a sample of station-hours from the held-out test set. The points sit tight against the diagonal across most of the volume range. The largest errors come from rare high-volume station-hours, where ridership can spike sharply above normal patterns.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7"/>
          <p:cNvSpPr/>
          <p:nvPr/>
        </p:nvSpPr>
        <p:spPr>
          <a:xfrm>
            <a:off x="5486400" y="2948940"/>
            <a:ext cx="322326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THE RESIDUALS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7"/>
          <p:cNvSpPr/>
          <p:nvPr/>
        </p:nvSpPr>
        <p:spPr>
          <a:xfrm>
            <a:off x="5486400" y="3223260"/>
            <a:ext cx="32232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3E45"/>
              </a:buClr>
              <a:buSzPts val="1000"/>
              <a:buFont typeface="Cambria"/>
              <a:buNone/>
            </a:pP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Errors are centered near zero. The right tail is heavier </a:t>
            </a:r>
            <a:r>
              <a:rPr lang="en" sz="1000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as</a:t>
            </a:r>
            <a:r>
              <a:rPr b="0" i="0" lang="en" sz="1000" u="none" cap="none" strike="noStrike">
                <a:solidFill>
                  <a:srgbClr val="2C3E45"/>
                </a:solidFill>
                <a:latin typeface="Cambria"/>
                <a:ea typeface="Cambria"/>
                <a:cs typeface="Cambria"/>
                <a:sym typeface="Cambria"/>
              </a:rPr>
              <a:t> the model undershoots some peak-hour cases rather than systematically overpredicting quieter periods. RMSE picks up most of its weight from those rare misses.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7"/>
          <p:cNvSpPr/>
          <p:nvPr/>
        </p:nvSpPr>
        <p:spPr>
          <a:xfrm>
            <a:off x="480060" y="456057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mbria"/>
              <a:buNone/>
            </a:pPr>
            <a:r>
              <a:rPr b="0" i="1" lang="en" sz="800" u="none" cap="none" strike="noStrike">
                <a:solidFill>
                  <a:srgbClr val="6B6457"/>
                </a:solidFill>
                <a:latin typeface="Cambria"/>
                <a:ea typeface="Cambria"/>
                <a:cs typeface="Cambria"/>
                <a:sym typeface="Cambria"/>
              </a:rPr>
              <a:t>FIG 04    Random sample of ~120 station-hours from the 1,508,577-row held-out test set.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/>
          <p:nvPr/>
        </p:nvSpPr>
        <p:spPr>
          <a:xfrm>
            <a:off x="411480" y="483489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MTA RIDERSHIP FORECASTING  ·  CAPSTONE TWO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7"/>
          <p:cNvSpPr/>
          <p:nvPr/>
        </p:nvSpPr>
        <p:spPr>
          <a:xfrm>
            <a:off x="7886700" y="4834890"/>
            <a:ext cx="89154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CD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8"/>
          <p:cNvSpPr/>
          <p:nvPr/>
        </p:nvSpPr>
        <p:spPr>
          <a:xfrm>
            <a:off x="411480" y="274320"/>
            <a:ext cx="54864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37D77"/>
                </a:solidFill>
                <a:latin typeface="Calibri"/>
                <a:ea typeface="Calibri"/>
                <a:cs typeface="Calibri"/>
                <a:sym typeface="Calibri"/>
              </a:rPr>
              <a:t>END  ·  THANK YOU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411480" y="1783080"/>
            <a:ext cx="836676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6300"/>
              <a:buFont typeface="Cambria"/>
              <a:buNone/>
            </a:pPr>
            <a:r>
              <a:rPr b="0" i="0" lang="en" sz="6300" u="none" cap="none" strike="noStrike">
                <a:solidFill>
                  <a:srgbClr val="0F2A30"/>
                </a:solidFill>
                <a:latin typeface="Cambria"/>
                <a:ea typeface="Cambria"/>
                <a:cs typeface="Cambria"/>
                <a:sym typeface="Cambria"/>
              </a:rPr>
              <a:t>Thank you.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411480" y="274320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7D77"/>
              </a:buClr>
              <a:buSzPts val="3000"/>
              <a:buFont typeface="Cambria"/>
              <a:buNone/>
            </a:pPr>
            <a:r>
              <a:rPr b="0" i="1" lang="en" sz="3000" u="none" cap="none" strike="noStrike">
                <a:solidFill>
                  <a:srgbClr val="137D77"/>
                </a:solidFill>
                <a:latin typeface="Cambria"/>
                <a:ea typeface="Cambria"/>
                <a:cs typeface="Cambria"/>
                <a:sym typeface="Cambria"/>
              </a:rPr>
              <a:t>Questions?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9" name="Google Shape;389;p28"/>
          <p:cNvCxnSpPr/>
          <p:nvPr/>
        </p:nvCxnSpPr>
        <p:spPr>
          <a:xfrm>
            <a:off x="480060" y="4389120"/>
            <a:ext cx="8229600" cy="0"/>
          </a:xfrm>
          <a:prstGeom prst="straightConnector1">
            <a:avLst/>
          </a:prstGeom>
          <a:noFill/>
          <a:ln cap="flat" cmpd="sng" w="9525">
            <a:solidFill>
              <a:srgbClr val="C9C2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0" name="Google Shape;390;p28"/>
          <p:cNvSpPr/>
          <p:nvPr/>
        </p:nvSpPr>
        <p:spPr>
          <a:xfrm>
            <a:off x="48006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AUTHOR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48006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ESH S. 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342900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342900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GITHUB.COM/ESHCHHURA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6583680" y="4491990"/>
            <a:ext cx="27432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457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6B6457"/>
                </a:solidFill>
                <a:latin typeface="Calibri"/>
                <a:ea typeface="Calibri"/>
                <a:cs typeface="Calibri"/>
                <a:sym typeface="Calibri"/>
              </a:rPr>
              <a:t>FINAL MODEL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6583680" y="4663440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2A3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0F2A30"/>
                </a:solidFill>
                <a:latin typeface="Calibri"/>
                <a:ea typeface="Calibri"/>
                <a:cs typeface="Calibri"/>
                <a:sym typeface="Calibri"/>
              </a:rPr>
              <a:t>LIGHTGBM  ·  R² 0.981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