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rgbClr val="137D77"/>
            </a:solidFill>
            <a:ln w="31750" cap="flat">
              <a:solidFill>
                <a:srgbClr val="137D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7D77"/>
              </a:solidFill>
              <a:ln w="9525" cap="flat">
                <a:solidFill>
                  <a:srgbClr val="137D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00:00</c:v>
                  </c:pt>
                  <c:pt idx="1">
                    <c:v>01:00</c:v>
                  </c:pt>
                  <c:pt idx="2">
                    <c:v>02:00</c:v>
                  </c:pt>
                  <c:pt idx="3">
                    <c:v>03:00</c:v>
                  </c:pt>
                  <c:pt idx="4">
                    <c:v>04:00</c:v>
                  </c:pt>
                  <c:pt idx="5">
                    <c:v>05:00</c:v>
                  </c:pt>
                  <c:pt idx="6">
                    <c:v>06:00</c:v>
                  </c:pt>
                  <c:pt idx="7">
                    <c:v>07:00</c:v>
                  </c:pt>
                  <c:pt idx="8">
                    <c:v>08:00</c:v>
                  </c:pt>
                  <c:pt idx="9">
                    <c:v>09:00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12</c:v>
                </c:pt>
                <c:pt idx="1">
                  <c:v>6</c:v>
                </c:pt>
                <c:pt idx="2">
                  <c:v>4</c:v>
                </c:pt>
                <c:pt idx="3">
                  <c:v>3</c:v>
                </c:pt>
                <c:pt idx="4">
                  <c:v>5</c:v>
                </c:pt>
                <c:pt idx="5">
                  <c:v>12</c:v>
                </c:pt>
                <c:pt idx="6">
                  <c:v>30</c:v>
                </c:pt>
                <c:pt idx="7">
                  <c:v>85</c:v>
                </c:pt>
                <c:pt idx="8">
                  <c:v>165</c:v>
                </c:pt>
                <c:pt idx="9">
                  <c:v>110</c:v>
                </c:pt>
                <c:pt idx="10">
                  <c:v>90</c:v>
                </c:pt>
                <c:pt idx="11">
                  <c:v>85</c:v>
                </c:pt>
                <c:pt idx="12">
                  <c:v>85</c:v>
                </c:pt>
                <c:pt idx="13">
                  <c:v>85</c:v>
                </c:pt>
                <c:pt idx="14">
                  <c:v>90</c:v>
                </c:pt>
                <c:pt idx="15">
                  <c:v>100</c:v>
                </c:pt>
                <c:pt idx="16">
                  <c:v>130</c:v>
                </c:pt>
                <c:pt idx="17">
                  <c:v>160</c:v>
                </c:pt>
                <c:pt idx="18">
                  <c:v>145</c:v>
                </c:pt>
                <c:pt idx="19">
                  <c:v>105</c:v>
                </c:pt>
                <c:pt idx="20">
                  <c:v>75</c:v>
                </c:pt>
                <c:pt idx="21">
                  <c:v>60</c:v>
                </c:pt>
                <c:pt idx="22">
                  <c:v>45</c:v>
                </c:pt>
                <c:pt idx="23">
                  <c:v>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rgbClr val="8B4A3A"/>
            </a:solidFill>
            <a:ln w="31750" cap="flat">
              <a:solidFill>
                <a:srgbClr val="8B4A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4A3A"/>
              </a:solidFill>
              <a:ln w="9525" cap="flat">
                <a:solidFill>
                  <a:srgbClr val="8B4A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00:00</c:v>
                  </c:pt>
                  <c:pt idx="1">
                    <c:v>01:00</c:v>
                  </c:pt>
                  <c:pt idx="2">
                    <c:v>02:00</c:v>
                  </c:pt>
                  <c:pt idx="3">
                    <c:v>03:00</c:v>
                  </c:pt>
                  <c:pt idx="4">
                    <c:v>04:00</c:v>
                  </c:pt>
                  <c:pt idx="5">
                    <c:v>05:00</c:v>
                  </c:pt>
                  <c:pt idx="6">
                    <c:v>06:00</c:v>
                  </c:pt>
                  <c:pt idx="7">
                    <c:v>07:00</c:v>
                  </c:pt>
                  <c:pt idx="8">
                    <c:v>08:00</c:v>
                  </c:pt>
                  <c:pt idx="9">
                    <c:v>09:00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38</c:v>
                </c:pt>
                <c:pt idx="1">
                  <c:v>25</c:v>
                </c:pt>
                <c:pt idx="2">
                  <c:v>15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  <c:pt idx="6">
                  <c:v>15</c:v>
                </c:pt>
                <c:pt idx="7">
                  <c:v>25</c:v>
                </c:pt>
                <c:pt idx="8">
                  <c:v>40</c:v>
                </c:pt>
                <c:pt idx="9">
                  <c:v>55</c:v>
                </c:pt>
                <c:pt idx="10">
                  <c:v>75</c:v>
                </c:pt>
                <c:pt idx="11">
                  <c:v>85</c:v>
                </c:pt>
                <c:pt idx="12">
                  <c:v>92</c:v>
                </c:pt>
                <c:pt idx="13">
                  <c:v>90</c:v>
                </c:pt>
                <c:pt idx="14">
                  <c:v>87</c:v>
                </c:pt>
                <c:pt idx="15">
                  <c:v>88</c:v>
                </c:pt>
                <c:pt idx="16">
                  <c:v>85</c:v>
                </c:pt>
                <c:pt idx="17">
                  <c:v>78</c:v>
                </c:pt>
                <c:pt idx="18">
                  <c:v>70</c:v>
                </c:pt>
                <c:pt idx="19">
                  <c:v>65</c:v>
                </c:pt>
                <c:pt idx="20">
                  <c:v>60</c:v>
                </c:pt>
                <c:pt idx="21">
                  <c:v>55</c:v>
                </c:pt>
                <c:pt idx="22">
                  <c:v>48</c:v>
                </c:pt>
                <c:pt idx="23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0"/>
        </c:scaling>
        <c:delete val="0"/>
        <c:axPos val="l"/>
        <c:majorGridlines>
          <c:spPr>
            <a:ln w="6350" cap="flat">
              <a:solidFill>
                <a:srgbClr val="C9C2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ECD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2ECD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ridership per station-day</c:v>
                </c:pt>
              </c:strCache>
            </c:strRef>
          </c:tx>
          <c:spPr>
            <a:solidFill>
              <a:srgbClr val="137D77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Manhattan</c:v>
                  </c:pt>
                  <c:pt idx="1">
                    <c:v>Queens</c:v>
                  </c:pt>
                  <c:pt idx="2">
                    <c:v>Brooklyn</c:v>
                  </c:pt>
                  <c:pt idx="3">
                    <c:v>Bronx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13957</c:v>
                </c:pt>
                <c:pt idx="1">
                  <c:v>5895</c:v>
                </c:pt>
                <c:pt idx="2">
                  <c:v>4484</c:v>
                </c:pt>
                <c:pt idx="3">
                  <c:v>3301</c:v>
                </c:pt>
                <c:pt idx="4">
                  <c:v>2777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A30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0"/>
        </c:scaling>
        <c:delete val="0"/>
        <c:axPos val="b"/>
        <c:majorGridlines>
          <c:spPr>
            <a:ln w="6350" cap="flat">
              <a:solidFill>
                <a:srgbClr val="C9C2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ECDF"/>
        </a:solidFill>
        <a:ln>
          <a:noFill/>
        </a:ln>
        <a:effectLst/>
      </c:spPr>
    </c:plotArea>
    <c:plotVisOnly val="1"/>
    <c:dispBlanksAs val="span"/>
  </c:chart>
  <c:spPr>
    <a:solidFill>
      <a:srgbClr val="F2ECD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OMNY share of total ridership</c:v>
                </c:pt>
              </c:strCache>
            </c:strRef>
          </c:tx>
          <c:spPr>
            <a:solidFill>
              <a:srgbClr val="137D77">
                <a:alpha val="90000"/>
              </a:srgbClr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Manhattan</c:v>
                  </c:pt>
                  <c:pt idx="1">
                    <c:v>Brooklyn</c:v>
                  </c:pt>
                  <c:pt idx="2">
                    <c:v>Queens</c:v>
                  </c:pt>
                  <c:pt idx="3">
                    <c:v>Bronx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46.7</c:v>
                </c:pt>
                <c:pt idx="1">
                  <c:v>39.6</c:v>
                </c:pt>
                <c:pt idx="2">
                  <c:v>35</c:v>
                </c:pt>
                <c:pt idx="3">
                  <c:v>28.6</c:v>
                </c:pt>
                <c:pt idx="4">
                  <c:v>24.2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A30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6350" cap="flat">
              <a:solidFill>
                <a:srgbClr val="C9C2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ECDF"/>
        </a:solidFill>
        <a:ln>
          <a:noFill/>
        </a:ln>
        <a:effectLst/>
      </c:spPr>
    </c:plotArea>
    <c:plotVisOnly val="1"/>
    <c:dispBlanksAs val="span"/>
  </c:chart>
  <c:spPr>
    <a:solidFill>
      <a:srgbClr val="F2ECD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37D77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A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LightGBM (final)</c:v>
                  </c:pt>
                  <c:pt idx="1">
                    <c:v>XGBoost (depth 8)</c:v>
                  </c:pt>
                  <c:pt idx="2">
                    <c:v>LightGBM (lr 0.10)</c:v>
                  </c:pt>
                  <c:pt idx="3">
                    <c:v>XGBoost (depth 6)</c:v>
                  </c:pt>
                  <c:pt idx="4">
                    <c:v>Ridge</c:v>
                  </c:pt>
                  <c:pt idx="5">
                    <c:v>SGD (L2)</c:v>
                  </c:pt>
                  <c:pt idx="6">
                    <c:v>Poisson (α=0.1)</c:v>
                  </c:pt>
                  <c:pt idx="7">
                    <c:v>Mean baseline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44.1</c:v>
                </c:pt>
                <c:pt idx="1">
                  <c:v>45.4</c:v>
                </c:pt>
                <c:pt idx="2">
                  <c:v>46.2</c:v>
                </c:pt>
                <c:pt idx="3">
                  <c:v>48.8</c:v>
                </c:pt>
                <c:pt idx="4">
                  <c:v>82.5</c:v>
                </c:pt>
                <c:pt idx="5">
                  <c:v>89.1</c:v>
                </c:pt>
                <c:pt idx="6">
                  <c:v>116.4</c:v>
                </c:pt>
                <c:pt idx="7">
                  <c:v>307.7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A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A30"/>
                </a:solidFill>
                <a:latin typeface="Cambria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</c:scaling>
        <c:delete val="0"/>
        <c:axPos val="b"/>
        <c:majorGridlines>
          <c:spPr>
            <a:ln w="6350" cap="flat">
              <a:solidFill>
                <a:srgbClr val="C9C2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ECDF"/>
        </a:solidFill>
        <a:ln>
          <a:noFill/>
        </a:ln>
        <a:effectLst/>
      </c:spPr>
    </c:plotArea>
    <c:plotVisOnly val="1"/>
    <c:dispBlanksAs val="span"/>
  </c:chart>
  <c:spPr>
    <a:solidFill>
      <a:srgbClr val="F2ECD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LightGBM (final)</c:v>
                </c:pt>
              </c:strCache>
            </c:strRef>
          </c:tx>
          <c:spPr>
            <a:solidFill>
              <a:srgbClr val="137D77"/>
            </a:solidFill>
            <a:ln w="25400" cap="flat">
              <a:solidFill>
                <a:srgbClr val="137D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37D77"/>
              </a:solidFill>
              <a:ln w="9525" cap="flat">
                <a:solidFill>
                  <a:srgbClr val="137D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0.967</c:v>
                </c:pt>
                <c:pt idx="1">
                  <c:v>0.954</c:v>
                </c:pt>
                <c:pt idx="2">
                  <c:v>0.963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 (d8)</c:v>
                </c:pt>
              </c:strCache>
            </c:strRef>
          </c:tx>
          <c:spPr>
            <a:solidFill>
              <a:srgbClr val="1FA9A1"/>
            </a:solidFill>
            <a:ln w="25400" cap="flat">
              <a:solidFill>
                <a:srgbClr val="1FA9A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A9A1"/>
              </a:solidFill>
              <a:ln w="9525" cap="flat">
                <a:solidFill>
                  <a:srgbClr val="1FA9A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0.966</c:v>
                </c:pt>
                <c:pt idx="1">
                  <c:v>0.952</c:v>
                </c:pt>
                <c:pt idx="2">
                  <c:v>0.962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LightGBM (lr.10)</c:v>
                </c:pt>
              </c:strCache>
            </c:strRef>
          </c:tx>
          <c:spPr>
            <a:solidFill>
              <a:srgbClr val="5BBFB8"/>
            </a:solidFill>
            <a:ln w="25400" cap="flat">
              <a:solidFill>
                <a:srgbClr val="5BBF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BBFB8"/>
              </a:solidFill>
              <a:ln w="9525" cap="flat">
                <a:solidFill>
                  <a:srgbClr val="5BBF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0.965</c:v>
                </c:pt>
                <c:pt idx="1">
                  <c:v>0.952</c:v>
                </c:pt>
                <c:pt idx="2">
                  <c:v>0.961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 (d6)</c:v>
                </c:pt>
              </c:strCache>
            </c:strRef>
          </c:tx>
          <c:spPr>
            <a:solidFill>
              <a:srgbClr val="98D4D0"/>
            </a:solidFill>
            <a:ln w="25400" cap="flat">
              <a:solidFill>
                <a:srgbClr val="98D4D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8D4D0"/>
              </a:solidFill>
              <a:ln w="9525" cap="flat">
                <a:solidFill>
                  <a:srgbClr val="98D4D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0.961</c:v>
                </c:pt>
                <c:pt idx="1">
                  <c:v>0.946</c:v>
                </c:pt>
                <c:pt idx="2">
                  <c:v>0.957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8B4A3A"/>
            </a:solidFill>
            <a:ln w="25400" cap="flat">
              <a:solidFill>
                <a:srgbClr val="8B4A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B4A3A"/>
              </a:solidFill>
              <a:ln w="9525" cap="flat">
                <a:solidFill>
                  <a:srgbClr val="8B4A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0.914</c:v>
                </c:pt>
                <c:pt idx="1">
                  <c:v>0.891</c:v>
                </c:pt>
                <c:pt idx="2">
                  <c:v>0.906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SGD (L2)</c:v>
                </c:pt>
              </c:strCache>
            </c:strRef>
          </c:tx>
          <c:spPr>
            <a:solidFill>
              <a:srgbClr val="B57568"/>
            </a:solidFill>
            <a:ln w="25400" cap="flat">
              <a:solidFill>
                <a:srgbClr val="B575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57568"/>
              </a:solidFill>
              <a:ln w="9525" cap="flat">
                <a:solidFill>
                  <a:srgbClr val="B575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0.905</c:v>
                </c:pt>
                <c:pt idx="1">
                  <c:v>0.89</c:v>
                </c:pt>
                <c:pt idx="2">
                  <c:v>0.906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6350" cap="flat">
              <a:solidFill>
                <a:srgbClr val="C9C2B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ECD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0F2A3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2ECD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137D77">
                <a:alpha val="60000"/>
              </a:srgbClr>
            </a:solidFill>
            <a:ln>
              <a:noFill/>
            </a:ln>
            <a:effectLst/>
          </c:spPr>
          <c:marker>
            <c:symbol val="circle"/>
            <c:size val="5"/>
            <c:spPr>
              <a:solidFill>
                <a:srgbClr val="137D77"/>
              </a:solidFill>
              <a:ln w="9525" cap="flat">
                <a:solidFill>
                  <a:srgbClr val="137D77"/>
                </a:solidFill>
                <a:prstDash val="solid"/>
                <a:round/>
              </a:ln>
              <a:effectLst/>
            </c:spPr>
          </c:marker>
          <c:xVal>
            <c:numRef>
              <c:f>Sheet1!$A$2:$A$121</c:f>
              <c:numCache>
                <c:formatCode>General</c:formatCode>
                <c:ptCount val="120"/>
                <c:pt idx="0">
                  <c:v>835.6586073118353</c:v>
                </c:pt>
                <c:pt idx="1">
                  <c:v>2399.1187695503863</c:v>
                </c:pt>
                <c:pt idx="2">
                  <c:v>2971.112868728407</c:v>
                </c:pt>
                <c:pt idx="3">
                  <c:v>751.6444759356367</c:v>
                </c:pt>
                <c:pt idx="4">
                  <c:v>2930.183724292533</c:v>
                </c:pt>
                <c:pt idx="5">
                  <c:v>2756.6967244773796</c:v>
                </c:pt>
                <c:pt idx="6">
                  <c:v>1658.0186406904384</c:v>
                </c:pt>
                <c:pt idx="7">
                  <c:v>840.5214484222546</c:v>
                </c:pt>
                <c:pt idx="8">
                  <c:v>1411.165429350852</c:v>
                </c:pt>
                <c:pt idx="9">
                  <c:v>2404.081432163135</c:v>
                </c:pt>
                <c:pt idx="10">
                  <c:v>1392.8655899873231</c:v>
                </c:pt>
                <c:pt idx="11">
                  <c:v>2870.4937841062733</c:v>
                </c:pt>
                <c:pt idx="12">
                  <c:v>2599.699274853835</c:v>
                </c:pt>
                <c:pt idx="13">
                  <c:v>1452.8701059059151</c:v>
                </c:pt>
                <c:pt idx="14">
                  <c:v>2138.1213606697393</c:v>
                </c:pt>
                <c:pt idx="15">
                  <c:v>1639.2174173998696</c:v>
                </c:pt>
                <c:pt idx="16">
                  <c:v>2423.724482732614</c:v>
                </c:pt>
                <c:pt idx="17">
                  <c:v>1701.7101295958964</c:v>
                </c:pt>
                <c:pt idx="18">
                  <c:v>1284.7820882785102</c:v>
                </c:pt>
                <c:pt idx="19">
                  <c:v>237.28392847646708</c:v>
                </c:pt>
                <c:pt idx="20">
                  <c:v>0.027518700368116045</c:v>
                </c:pt>
                <c:pt idx="21">
                  <c:v>665.0023132010242</c:v>
                </c:pt>
                <c:pt idx="22">
                  <c:v>197.72220783257112</c:v>
                </c:pt>
                <c:pt idx="23">
                  <c:v>410.81781969341705</c:v>
                </c:pt>
                <c:pt idx="24">
                  <c:v>445.74425237550093</c:v>
                </c:pt>
                <c:pt idx="25">
                  <c:v>1253.5855370443016</c:v>
                </c:pt>
                <c:pt idx="26">
                  <c:v>1010.1540841308841</c:v>
                </c:pt>
                <c:pt idx="27">
                  <c:v>450.04075842735193</c:v>
                </c:pt>
                <c:pt idx="28">
                  <c:v>1158.366250348856</c:v>
                </c:pt>
                <c:pt idx="29">
                  <c:v>44.2763171906344</c:v>
                </c:pt>
                <c:pt idx="30">
                  <c:v>1519.6235273125533</c:v>
                </c:pt>
                <c:pt idx="31">
                  <c:v>1321.0785833827576</c:v>
                </c:pt>
                <c:pt idx="32">
                  <c:v>87.64312915582003</c:v>
                </c:pt>
                <c:pt idx="33">
                  <c:v>2802.9870858623153</c:v>
                </c:pt>
                <c:pt idx="34">
                  <c:v>2587.319850725155</c:v>
                </c:pt>
                <c:pt idx="35">
                  <c:v>2240.5702610380986</c:v>
                </c:pt>
                <c:pt idx="36">
                  <c:v>1784.6332833359522</c:v>
                </c:pt>
                <c:pt idx="37">
                  <c:v>1594.4739387676318</c:v>
                </c:pt>
                <c:pt idx="38">
                  <c:v>2486.106955753315</c:v>
                </c:pt>
                <c:pt idx="39">
                  <c:v>504.2372074790513</c:v>
                </c:pt>
                <c:pt idx="40">
                  <c:v>1435.535971882265</c:v>
                </c:pt>
                <c:pt idx="41">
                  <c:v>420.0286989472687</c:v>
                </c:pt>
                <c:pt idx="42">
                  <c:v>0.003023256330088124</c:v>
                </c:pt>
                <c:pt idx="43">
                  <c:v>1866.1575706057965</c:v>
                </c:pt>
                <c:pt idx="44">
                  <c:v>29.911704334828908</c:v>
                </c:pt>
                <c:pt idx="45">
                  <c:v>687.0420415054509</c:v>
                </c:pt>
                <c:pt idx="46">
                  <c:v>2349.4657463069443</c:v>
                </c:pt>
                <c:pt idx="47">
                  <c:v>2888.8989734760817</c:v>
                </c:pt>
                <c:pt idx="48">
                  <c:v>1931.0981972751345</c:v>
                </c:pt>
                <c:pt idx="49">
                  <c:v>2988.9932729688103</c:v>
                </c:pt>
                <c:pt idx="50">
                  <c:v>2609.1018265312546</c:v>
                </c:pt>
                <c:pt idx="51">
                  <c:v>1029.9503410200737</c:v>
                </c:pt>
                <c:pt idx="52">
                  <c:v>745.0483133881781</c:v>
                </c:pt>
                <c:pt idx="53">
                  <c:v>1939.3542871595866</c:v>
                </c:pt>
                <c:pt idx="54">
                  <c:v>1501.3496304237076</c:v>
                </c:pt>
                <c:pt idx="55">
                  <c:v>346.3618346335197</c:v>
                </c:pt>
                <c:pt idx="56">
                  <c:v>1854.910085572095</c:v>
                </c:pt>
                <c:pt idx="57">
                  <c:v>1639.4701215363418</c:v>
                </c:pt>
                <c:pt idx="58">
                  <c:v>530.8845051671341</c:v>
                </c:pt>
                <c:pt idx="59">
                  <c:v>751.74011013901</c:v>
                </c:pt>
                <c:pt idx="60">
                  <c:v>2802.8664293024826</c:v>
                </c:pt>
                <c:pt idx="61">
                  <c:v>1655.7980684120053</c:v>
                </c:pt>
                <c:pt idx="62">
                  <c:v>803.7041199215721</c:v>
                </c:pt>
                <c:pt idx="63">
                  <c:v>2301.5268840159392</c:v>
                </c:pt>
                <c:pt idx="64">
                  <c:v>713.0259740348757</c:v>
                </c:pt>
                <c:pt idx="65">
                  <c:v>451.77821863842746</c:v>
                </c:pt>
                <c:pt idx="66">
                  <c:v>2862.1228665154676</c:v>
                </c:pt>
                <c:pt idx="67">
                  <c:v>2293.0159589678474</c:v>
                </c:pt>
                <c:pt idx="68">
                  <c:v>368.4766164261824</c:v>
                </c:pt>
                <c:pt idx="69">
                  <c:v>2854.525843724739</c:v>
                </c:pt>
                <c:pt idx="70">
                  <c:v>352.81002241502836</c:v>
                </c:pt>
                <c:pt idx="71">
                  <c:v>319.45922836982953</c:v>
                </c:pt>
                <c:pt idx="72">
                  <c:v>613.4924883058654</c:v>
                </c:pt>
                <c:pt idx="73">
                  <c:v>2989.440207335335</c:v>
                </c:pt>
                <c:pt idx="74">
                  <c:v>339.393297070657</c:v>
                </c:pt>
                <c:pt idx="75">
                  <c:v>2784.120887393192</c:v>
                </c:pt>
                <c:pt idx="76">
                  <c:v>673.2955238459832</c:v>
                </c:pt>
                <c:pt idx="77">
                  <c:v>768.2897851966776</c:v>
                </c:pt>
                <c:pt idx="78">
                  <c:v>1520.393318689774</c:v>
                </c:pt>
                <c:pt idx="79">
                  <c:v>320.7912695358366</c:v>
                </c:pt>
                <c:pt idx="80">
                  <c:v>922.9488945102104</c:v>
                </c:pt>
                <c:pt idx="81">
                  <c:v>1960.344822283136</c:v>
                </c:pt>
                <c:pt idx="82">
                  <c:v>1227.0452729239428</c:v>
                </c:pt>
                <c:pt idx="83">
                  <c:v>1050.7711155067366</c:v>
                </c:pt>
                <c:pt idx="84">
                  <c:v>80.15847711100308</c:v>
                </c:pt>
                <c:pt idx="85">
                  <c:v>700.6756517077682</c:v>
                </c:pt>
                <c:pt idx="86">
                  <c:v>1176.699823648351</c:v>
                </c:pt>
                <c:pt idx="87">
                  <c:v>999.8864212493892</c:v>
                </c:pt>
                <c:pt idx="88">
                  <c:v>2346.5984735694055</c:v>
                </c:pt>
                <c:pt idx="89">
                  <c:v>2801.839644586668</c:v>
                </c:pt>
                <c:pt idx="90">
                  <c:v>2347.60074998647</c:v>
                </c:pt>
                <c:pt idx="91">
                  <c:v>61.099706885932704</c:v>
                </c:pt>
                <c:pt idx="92">
                  <c:v>2013.080440432652</c:v>
                </c:pt>
                <c:pt idx="93">
                  <c:v>1415.4586981024017</c:v>
                </c:pt>
                <c:pt idx="94">
                  <c:v>2107.6304286787176</c:v>
                </c:pt>
                <c:pt idx="95">
                  <c:v>156.6211745169177</c:v>
                </c:pt>
                <c:pt idx="96">
                  <c:v>1204.8615731294014</c:v>
                </c:pt>
                <c:pt idx="97">
                  <c:v>1345.3993570166829</c:v>
                </c:pt>
                <c:pt idx="98">
                  <c:v>106.08793439029546</c:v>
                </c:pt>
                <c:pt idx="99">
                  <c:v>156.56922833400426</c:v>
                </c:pt>
                <c:pt idx="100">
                  <c:v>2618.2869068292944</c:v>
                </c:pt>
                <c:pt idx="101">
                  <c:v>73.48832601468925</c:v>
                </c:pt>
                <c:pt idx="102">
                  <c:v>1458.4333466331461</c:v>
                </c:pt>
                <c:pt idx="103">
                  <c:v>1742.9935617678002</c:v>
                </c:pt>
                <c:pt idx="104">
                  <c:v>646.9951721536153</c:v>
                </c:pt>
                <c:pt idx="105">
                  <c:v>2205.29250705991</c:v>
                </c:pt>
                <c:pt idx="106">
                  <c:v>2855.9270416819663</c:v>
                </c:pt>
                <c:pt idx="107">
                  <c:v>188.91589305123125</c:v>
                </c:pt>
                <c:pt idx="108">
                  <c:v>2523.577480963978</c:v>
                </c:pt>
                <c:pt idx="109">
                  <c:v>1004.1226229417169</c:v>
                </c:pt>
                <c:pt idx="110">
                  <c:v>955.6872935576883</c:v>
                </c:pt>
                <c:pt idx="111">
                  <c:v>2546.6145933321563</c:v>
                </c:pt>
                <c:pt idx="112">
                  <c:v>1850.6543502392535</c:v>
                </c:pt>
                <c:pt idx="113">
                  <c:v>1242.130020490007</c:v>
                </c:pt>
                <c:pt idx="114">
                  <c:v>1414.0482644549297</c:v>
                </c:pt>
                <c:pt idx="115">
                  <c:v>29.67008346463872</c:v>
                </c:pt>
                <c:pt idx="116">
                  <c:v>2866.51277967166</c:v>
                </c:pt>
                <c:pt idx="117">
                  <c:v>830.6011031941042</c:v>
                </c:pt>
                <c:pt idx="118">
                  <c:v>1958.6348400542283</c:v>
                </c:pt>
                <c:pt idx="119">
                  <c:v>1468.8261387049408</c:v>
                </c:pt>
              </c:numCache>
            </c:numRef>
          </c:xVal>
          <c:yVal>
            <c:numRef>
              <c:f>Sheet1!$B$2:$B$121</c:f>
              <c:numCache>
                <c:formatCode>General</c:formatCode>
                <c:ptCount val="120"/>
                <c:pt idx="0">
                  <c:v>815.4059912102766</c:v>
                </c:pt>
                <c:pt idx="1">
                  <c:v>2399.665059495199</c:v>
                </c:pt>
                <c:pt idx="2">
                  <c:v>2924.4318401339456</c:v>
                </c:pt>
                <c:pt idx="3">
                  <c:v>757.1269039380488</c:v>
                </c:pt>
                <c:pt idx="4">
                  <c:v>2836.593642013641</c:v>
                </c:pt>
                <c:pt idx="5">
                  <c:v>2666.5977276044828</c:v>
                </c:pt>
                <c:pt idx="6">
                  <c:v>1694.6598483381938</c:v>
                </c:pt>
                <c:pt idx="7">
                  <c:v>824.6632632696403</c:v>
                </c:pt>
                <c:pt idx="8">
                  <c:v>1390.3265339945904</c:v>
                </c:pt>
                <c:pt idx="9">
                  <c:v>2366.7342189358883</c:v>
                </c:pt>
                <c:pt idx="10">
                  <c:v>1368.4221166848397</c:v>
                </c:pt>
                <c:pt idx="11">
                  <c:v>2738.4355459652397</c:v>
                </c:pt>
                <c:pt idx="12">
                  <c:v>2556.995173345979</c:v>
                </c:pt>
                <c:pt idx="13">
                  <c:v>1503.5487755230497</c:v>
                </c:pt>
                <c:pt idx="14">
                  <c:v>2080.9938391014707</c:v>
                </c:pt>
                <c:pt idx="15">
                  <c:v>1617.3848847334602</c:v>
                </c:pt>
                <c:pt idx="16">
                  <c:v>2370.511962622859</c:v>
                </c:pt>
                <c:pt idx="17">
                  <c:v>1632.6588914670976</c:v>
                </c:pt>
                <c:pt idx="18">
                  <c:v>1319.842724326207</c:v>
                </c:pt>
                <c:pt idx="19">
                  <c:v>228.56985524912207</c:v>
                </c:pt>
                <c:pt idx="20">
                  <c:v>0</c:v>
                </c:pt>
                <c:pt idx="21">
                  <c:v>656.4234892523989</c:v>
                </c:pt>
                <c:pt idx="22">
                  <c:v>196.1468835003448</c:v>
                </c:pt>
                <c:pt idx="23">
                  <c:v>424.1670744729017</c:v>
                </c:pt>
                <c:pt idx="24">
                  <c:v>459.0770255028226</c:v>
                </c:pt>
                <c:pt idx="25">
                  <c:v>1260.5199770305271</c:v>
                </c:pt>
                <c:pt idx="26">
                  <c:v>1042.1821882061372</c:v>
                </c:pt>
                <c:pt idx="27">
                  <c:v>462.60742163129936</c:v>
                </c:pt>
                <c:pt idx="28">
                  <c:v>1185.4895929830027</c:v>
                </c:pt>
                <c:pt idx="29">
                  <c:v>50.523470547718134</c:v>
                </c:pt>
                <c:pt idx="30">
                  <c:v>1490.6553619269625</c:v>
                </c:pt>
                <c:pt idx="31">
                  <c:v>1359.5287141683086</c:v>
                </c:pt>
                <c:pt idx="32">
                  <c:v>83.28175416758823</c:v>
                </c:pt>
                <c:pt idx="33">
                  <c:v>2784.84394451529</c:v>
                </c:pt>
                <c:pt idx="34">
                  <c:v>2556.2792883340408</c:v>
                </c:pt>
                <c:pt idx="35">
                  <c:v>2272.1285014059495</c:v>
                </c:pt>
                <c:pt idx="36">
                  <c:v>1775.6422177992313</c:v>
                </c:pt>
                <c:pt idx="37">
                  <c:v>1351.2683939226504</c:v>
                </c:pt>
                <c:pt idx="38">
                  <c:v>2527.2774377399282</c:v>
                </c:pt>
                <c:pt idx="39">
                  <c:v>503.5020557366472</c:v>
                </c:pt>
                <c:pt idx="40">
                  <c:v>1457.258838205286</c:v>
                </c:pt>
                <c:pt idx="41">
                  <c:v>426.5507550699685</c:v>
                </c:pt>
                <c:pt idx="42">
                  <c:v>9.520149945763745</c:v>
                </c:pt>
                <c:pt idx="43">
                  <c:v>1651.0526942758659</c:v>
                </c:pt>
                <c:pt idx="44">
                  <c:v>29.21352571959616</c:v>
                </c:pt>
                <c:pt idx="45">
                  <c:v>688.3500574158566</c:v>
                </c:pt>
                <c:pt idx="46">
                  <c:v>2413.147601469565</c:v>
                </c:pt>
                <c:pt idx="47">
                  <c:v>2734.36827384011</c:v>
                </c:pt>
                <c:pt idx="48">
                  <c:v>1836.9004583267708</c:v>
                </c:pt>
                <c:pt idx="49">
                  <c:v>2917.687869163859</c:v>
                </c:pt>
                <c:pt idx="50">
                  <c:v>2423.177092246863</c:v>
                </c:pt>
                <c:pt idx="51">
                  <c:v>1033.8004608050671</c:v>
                </c:pt>
                <c:pt idx="52">
                  <c:v>765.9988812821531</c:v>
                </c:pt>
                <c:pt idx="53">
                  <c:v>1963.7072137017885</c:v>
                </c:pt>
                <c:pt idx="54">
                  <c:v>1494.3562973405942</c:v>
                </c:pt>
                <c:pt idx="55">
                  <c:v>355.3236736751765</c:v>
                </c:pt>
                <c:pt idx="56">
                  <c:v>1747.8549531218855</c:v>
                </c:pt>
                <c:pt idx="57">
                  <c:v>1639.7471942163083</c:v>
                </c:pt>
                <c:pt idx="58">
                  <c:v>524.6041220839345</c:v>
                </c:pt>
                <c:pt idx="59">
                  <c:v>767.7329814070458</c:v>
                </c:pt>
                <c:pt idx="60">
                  <c:v>2807.7634125267</c:v>
                </c:pt>
                <c:pt idx="61">
                  <c:v>1613.8020542328225</c:v>
                </c:pt>
                <c:pt idx="62">
                  <c:v>826.1749056922863</c:v>
                </c:pt>
                <c:pt idx="63">
                  <c:v>2348.493683105676</c:v>
                </c:pt>
                <c:pt idx="64">
                  <c:v>703.3842233194622</c:v>
                </c:pt>
                <c:pt idx="65">
                  <c:v>449.28512699318844</c:v>
                </c:pt>
                <c:pt idx="66">
                  <c:v>2827.268733377928</c:v>
                </c:pt>
                <c:pt idx="67">
                  <c:v>2215.682794650691</c:v>
                </c:pt>
                <c:pt idx="68">
                  <c:v>373.4280223790201</c:v>
                </c:pt>
                <c:pt idx="69">
                  <c:v>2829.389963403015</c:v>
                </c:pt>
                <c:pt idx="70">
                  <c:v>349.6922692707557</c:v>
                </c:pt>
                <c:pt idx="71">
                  <c:v>312.1166223516008</c:v>
                </c:pt>
                <c:pt idx="72">
                  <c:v>599.1755136467904</c:v>
                </c:pt>
                <c:pt idx="73">
                  <c:v>2934.483733247466</c:v>
                </c:pt>
                <c:pt idx="74">
                  <c:v>343.5050646228278</c:v>
                </c:pt>
                <c:pt idx="75">
                  <c:v>2740.8673602648164</c:v>
                </c:pt>
                <c:pt idx="76">
                  <c:v>672.7104909586209</c:v>
                </c:pt>
                <c:pt idx="77">
                  <c:v>778.5913716306533</c:v>
                </c:pt>
                <c:pt idx="78">
                  <c:v>1473.504072949311</c:v>
                </c:pt>
                <c:pt idx="79">
                  <c:v>317.31098176555</c:v>
                </c:pt>
                <c:pt idx="80">
                  <c:v>920.0566214476316</c:v>
                </c:pt>
                <c:pt idx="81">
                  <c:v>2018.987634970777</c:v>
                </c:pt>
                <c:pt idx="82">
                  <c:v>1250.3683152621486</c:v>
                </c:pt>
                <c:pt idx="83">
                  <c:v>1032.2064873401205</c:v>
                </c:pt>
                <c:pt idx="84">
                  <c:v>80.40460770102742</c:v>
                </c:pt>
                <c:pt idx="85">
                  <c:v>724.7092719740251</c:v>
                </c:pt>
                <c:pt idx="86">
                  <c:v>1157.9706345887005</c:v>
                </c:pt>
                <c:pt idx="87">
                  <c:v>987.5337331849477</c:v>
                </c:pt>
                <c:pt idx="88">
                  <c:v>2265.3406784341973</c:v>
                </c:pt>
                <c:pt idx="89">
                  <c:v>2826.321768451976</c:v>
                </c:pt>
                <c:pt idx="90">
                  <c:v>2199.9341164332227</c:v>
                </c:pt>
                <c:pt idx="91">
                  <c:v>53.34891504902892</c:v>
                </c:pt>
                <c:pt idx="92">
                  <c:v>2004.030864504968</c:v>
                </c:pt>
                <c:pt idx="93">
                  <c:v>1459.0096917523986</c:v>
                </c:pt>
                <c:pt idx="94">
                  <c:v>2106.2636028257766</c:v>
                </c:pt>
                <c:pt idx="95">
                  <c:v>158.64109713134297</c:v>
                </c:pt>
                <c:pt idx="96">
                  <c:v>1211.6458170666365</c:v>
                </c:pt>
                <c:pt idx="97">
                  <c:v>1368.0288173641668</c:v>
                </c:pt>
                <c:pt idx="98">
                  <c:v>115.51796224137534</c:v>
                </c:pt>
                <c:pt idx="99">
                  <c:v>157.3398559479146</c:v>
                </c:pt>
                <c:pt idx="100">
                  <c:v>2543.9671612266884</c:v>
                </c:pt>
                <c:pt idx="101">
                  <c:v>73.77752002811188</c:v>
                </c:pt>
                <c:pt idx="102">
                  <c:v>1447.7956582660067</c:v>
                </c:pt>
                <c:pt idx="103">
                  <c:v>1794.46541276808</c:v>
                </c:pt>
                <c:pt idx="104">
                  <c:v>650.8301180870714</c:v>
                </c:pt>
                <c:pt idx="105">
                  <c:v>2090.0885769971387</c:v>
                </c:pt>
                <c:pt idx="106">
                  <c:v>2876.3967690525333</c:v>
                </c:pt>
                <c:pt idx="107">
                  <c:v>180.70593700060527</c:v>
                </c:pt>
                <c:pt idx="108">
                  <c:v>2461.261713071264</c:v>
                </c:pt>
                <c:pt idx="109">
                  <c:v>972.5576634378026</c:v>
                </c:pt>
                <c:pt idx="110">
                  <c:v>975.6416280132078</c:v>
                </c:pt>
                <c:pt idx="111">
                  <c:v>2541.864281726914</c:v>
                </c:pt>
                <c:pt idx="112">
                  <c:v>1784.8151658552201</c:v>
                </c:pt>
                <c:pt idx="113">
                  <c:v>1218.8929773977618</c:v>
                </c:pt>
                <c:pt idx="114">
                  <c:v>1414.9602207843022</c:v>
                </c:pt>
                <c:pt idx="115">
                  <c:v>38.19879855014544</c:v>
                </c:pt>
                <c:pt idx="116">
                  <c:v>2920.195172553145</c:v>
                </c:pt>
                <c:pt idx="117">
                  <c:v>823.9032757845786</c:v>
                </c:pt>
                <c:pt idx="118">
                  <c:v>1897.8704320124475</c:v>
                </c:pt>
                <c:pt idx="119">
                  <c:v>1497.3415664905335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3000"/>
          <c:min val="0"/>
        </c:scaling>
        <c:delete val="0"/>
        <c:axPos val="b"/>
        <c:majorGridlines>
          <c:spPr>
            <a:ln w="6350" cap="flat">
              <a:solidFill>
                <a:srgbClr val="C9C2B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457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6B6457"/>
                    </a:solidFill>
                    <a:latin typeface="Calibri"/>
                  </a:rPr>
                  <a:t>ACTUAL RIDERSHIP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3000"/>
          <c:min val="0"/>
        </c:scaling>
        <c:delete val="0"/>
        <c:axPos val="l"/>
        <c:majorGridlines>
          <c:spPr>
            <a:ln w="6350" cap="flat">
              <a:solidFill>
                <a:srgbClr val="C9C2B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457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6B6457"/>
                    </a:solidFill>
                    <a:latin typeface="Calibri"/>
                  </a:rPr>
                  <a:t>PREDICTED RIDERSHIP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45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F2ECD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2ECD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TWO  ·  FINAL PRESENTATION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SUBWAY RIDERSHIP  ·  FORECASTING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10972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</a:t>
            </a:r>
            <a:endParaRPr lang="en-US" sz="5400" dirty="0"/>
          </a:p>
          <a:p>
            <a:pPr indent="0" marL="0">
              <a:buNone/>
            </a:pPr>
            <a:r>
              <a:rPr lang="en-US" sz="5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hour</a:t>
            </a:r>
            <a:endParaRPr lang="en-US" sz="5400" dirty="0"/>
          </a:p>
          <a:p>
            <a:pPr indent="0" marL="0">
              <a:buNone/>
            </a:pPr>
            <a:r>
              <a:rPr lang="en-US" sz="5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</a:t>
            </a:r>
            <a:pPr indent="0" marL="0">
              <a:buNone/>
            </a:pPr>
            <a:r>
              <a:rPr lang="en-US" sz="54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subway</a:t>
            </a:r>
            <a:pPr indent="0" marL="0">
              <a:buNone/>
            </a:pPr>
            <a:r>
              <a:rPr lang="en-US" sz="5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5532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station-by-station, hour-by-hour ridership model for the MTA, built on roughly two years of fare-tap data spanning 2022–2024.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6080760"/>
            <a:ext cx="10972800" cy="0"/>
          </a:xfrm>
          <a:prstGeom prst="line">
            <a:avLst/>
          </a:prstGeom>
          <a:noFill/>
          <a:ln w="9525">
            <a:solidFill>
              <a:srgbClr val="C9C2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199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 S. CHHURA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6199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GITHUB.COM/ESHCHHURA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778240" y="61996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0" y="6419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·  R² 0.981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problem,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who I built this for.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MTA moves several million riders a day. Frequency and staffing decisions are largely made from historical averages and experience. I wanted to see how far a model trained on two years of fare-tap data could push that.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Given a station and a specific hour, can I predict how many riders will tap in — accurately enough that the MTA could actually plan around the answer?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8006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THIS IS FOR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MTA operations and planning — the people deciding how many trains to run at 5 PM Tuesday, or where to station an agent during a holiday week. They care about accuracy at the station-hour grain, behavior at the peaks, and stability over 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2103120"/>
            <a:ext cx="219456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51M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3152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TAP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738360" y="2103120"/>
            <a:ext cx="219456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38360" y="22402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97383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IDS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3931920"/>
            <a:ext cx="219456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069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yrs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731520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2022 → MAY 2024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738360" y="3931920"/>
            <a:ext cx="219456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40690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973836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BOROUGHS COVERED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5989320"/>
            <a:ext cx="109728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Tuesday at a midtown hub is not a Tuesday at a quiet outerborough station — averages are not enough."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 SOURCE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data,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where it came from.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MTA Subway Hourly Ridership 2022–2024 on Kaggle, originally pulled from the MTA public open-data portal. Each row represents one station, one hour, one fare class, and one payment method, so a single hour at a busy station can produce a dozen+ rows depending on how riders paid.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352044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A ROW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columns total. Useful raw fields: timestamp, station ID, borough, payment method (OMNY or MetroCard), fare class, ridership count, transfers, and lat/long. The redundant geo-string was dropped early.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93776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21208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~51.2M rows from May 2022 through May 2024. After cleaning, aggregation, and lag-feature creation, the modeling table holds 7,542,884 station-hour rows.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 ·  RAW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0" y="2377440"/>
            <a:ext cx="338328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transit_timestamp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2807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transit_mode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2807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0" y="3099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station_complex_id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30998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3392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station_complex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0" y="3392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0" y="3685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borough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36850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0" y="3977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42702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fare_class_category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42702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0" y="45628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45628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554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0" y="4855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0" y="51480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15600" y="51480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0" y="5440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0" y="5440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9600" y="5733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515600" y="5733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(dropped)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DATA WRANGLING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Cleaning, wrangling,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bits I cut.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51.2M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22860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0" y="2103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7.54M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384048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STATION-HOUR ROWS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1945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aggregating from per–fare-class rows up to one row per station per hour, then adding lag features.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109728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CLEANING STEPS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4.6 GB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2519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Memory-conscious dtypes; downcast ints; parse timestamp once.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6360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4636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 for clarity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463600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station_complex_id → station_id, etc.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0200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5020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 to station-hour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502005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up by (timestamp, station_id); sum ridership.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4041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5404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leakage columns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540410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redundant geo-string; drop fare-class detail.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7881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80160" y="5788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 payment side-data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578815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MetroCard / OMNY columns for separate analysis.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EXPLORATORY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day has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peaks</a:t>
            </a:r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weekdays, ridership shows a sharp 8 AM peak, a midday valley, and a slightly larger 5 PM peak. On weekends, both peaks disappear and the curve becomes a single broad ridge from late morning to early evening. Any model that ignores hour-of-day will struggle — and that's exactly what the linear baselines did.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834640"/>
          <a:ext cx="10972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01    Illustrative shape of mean ridership by hour of day. Weekday curve shows the two-peak commuter pattern; weekend is gentler and shifts later. (Stylized — exact hourly values not computed in EDA.)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EXPLORATORY ANALYSIS (CONT.)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riders are, </a:t>
            </a:r>
            <a:pPr indent="0" marL="0">
              <a:buNone/>
            </a:pPr>
            <a:r>
              <a:rPr lang="en-US" sz="32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how they pay.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DOMINATES VOLUME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Manhattan carries the highest per-station daily volume; Queens and Brooklyn split most of the rest. Staten Island barely registers — most of its transit is the ferry and the SIR.</a:t>
            </a:r>
            <a:endParaRPr lang="en-US" sz="13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3108960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0" y="187452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OMNY ADOPTION VARIES BY BOROUGH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0" y="214884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Manhattan riders use OMNY at nearly twice the rate of Staten Island riders. The pattern is directional but not strict — Brooklyn shows higher OMNY adoption than Queens despite Queens having higher per-station ridership.</a:t>
            </a:r>
            <a:endParaRPr lang="en-US" sz="13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400800" y="31089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rows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features.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5760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Calendar context for every station-hour.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day_of_week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day_of_month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0142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361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50566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is_holiday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34840" y="2011680"/>
            <a:ext cx="365760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lags per station carry most of the signal.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48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lag_1h  — same station, one hour ago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3484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lag_24h  — same station, day ago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34840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lag_168h  — same station, week ago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2011680"/>
            <a:ext cx="365760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121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STATISTICS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23957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Shifted by 1h so they never see the future.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rolling_mean_24h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0" y="3319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rolling_std_24h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09728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742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OneHotEncoder(handle_unknown="ignore") for categoricals → sparse matrix → StandardScaler for numerics. Tree models don't need scaling, but the pipeline applies it uniformly so the comparison is fair.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TRAIN / TEST SPLIT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Time-aware splitting </a:t>
            </a:r>
            <a:pPr indent="0" marL="0">
              <a:buNone/>
            </a:pPr>
            <a:r>
              <a:rPr lang="en-US" sz="32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avoid leakage.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time series. A random shuffle would let the model see training rows from after the test rows it was trying to predict, which inflates every metric. I used a chronological 80/20 split, with three expanding-window backtest folds inside the training portion.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0" y="2651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88950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0" y="2926080"/>
            <a:ext cx="3986784" cy="320040"/>
          </a:xfrm>
          <a:prstGeom prst="rect">
            <a:avLst/>
          </a:prstGeom>
          <a:solidFill>
            <a:srgbClr val="137D77"/>
          </a:solidFill>
          <a:ln w="12700">
            <a:solidFill>
              <a:srgbClr val="137D7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32704" y="2926080"/>
            <a:ext cx="797357" cy="320040"/>
          </a:xfrm>
          <a:prstGeom prst="rect">
            <a:avLst/>
          </a:prstGeom>
          <a:solidFill>
            <a:srgbClr val="9CC4C1"/>
          </a:solidFill>
          <a:ln w="12700">
            <a:solidFill>
              <a:srgbClr val="F2EC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30061" y="2926080"/>
            <a:ext cx="5182819" cy="320040"/>
          </a:xfrm>
          <a:prstGeom prst="rect">
            <a:avLst/>
          </a:prstGeom>
          <a:solidFill>
            <a:srgbClr val="C9C2B5"/>
          </a:solidFill>
          <a:ln w="12700">
            <a:solidFill>
              <a:srgbClr val="F2E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4838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645920" y="3520440"/>
            <a:ext cx="4784141" cy="320040"/>
          </a:xfrm>
          <a:prstGeom prst="rect">
            <a:avLst/>
          </a:prstGeom>
          <a:solidFill>
            <a:srgbClr val="137D77"/>
          </a:solidFill>
          <a:ln w="12700">
            <a:solidFill>
              <a:srgbClr val="137D7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30061" y="3520440"/>
            <a:ext cx="797357" cy="320040"/>
          </a:xfrm>
          <a:prstGeom prst="rect">
            <a:avLst/>
          </a:prstGeom>
          <a:solidFill>
            <a:srgbClr val="9CC4C1"/>
          </a:solidFill>
          <a:ln w="12700">
            <a:solidFill>
              <a:srgbClr val="F2EC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7418" y="3520440"/>
            <a:ext cx="4385462" cy="320040"/>
          </a:xfrm>
          <a:prstGeom prst="rect">
            <a:avLst/>
          </a:prstGeom>
          <a:solidFill>
            <a:srgbClr val="C9C2B5"/>
          </a:solidFill>
          <a:ln w="12700">
            <a:solidFill>
              <a:srgbClr val="F2E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07822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4114800"/>
            <a:ext cx="5581498" cy="320040"/>
          </a:xfrm>
          <a:prstGeom prst="rect">
            <a:avLst/>
          </a:prstGeom>
          <a:solidFill>
            <a:srgbClr val="137D77"/>
          </a:solidFill>
          <a:ln w="12700">
            <a:solidFill>
              <a:srgbClr val="137D7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7418" y="4114800"/>
            <a:ext cx="797357" cy="320040"/>
          </a:xfrm>
          <a:prstGeom prst="rect">
            <a:avLst/>
          </a:prstGeom>
          <a:solidFill>
            <a:srgbClr val="9CC4C1"/>
          </a:solidFill>
          <a:ln w="12700">
            <a:solidFill>
              <a:srgbClr val="F2EC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24774" y="4114800"/>
            <a:ext cx="3588106" cy="320040"/>
          </a:xfrm>
          <a:prstGeom prst="rect">
            <a:avLst/>
          </a:prstGeom>
          <a:solidFill>
            <a:srgbClr val="C9C2B5"/>
          </a:solidFill>
          <a:ln w="12700">
            <a:solidFill>
              <a:srgbClr val="F2E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67258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45920" y="4709160"/>
            <a:ext cx="7973568" cy="320040"/>
          </a:xfrm>
          <a:prstGeom prst="rect">
            <a:avLst/>
          </a:prstGeom>
          <a:solidFill>
            <a:srgbClr val="137D77"/>
          </a:solidFill>
          <a:ln w="12700">
            <a:solidFill>
              <a:srgbClr val="137D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19488" y="4709160"/>
            <a:ext cx="1993392" cy="320040"/>
          </a:xfrm>
          <a:prstGeom prst="rect">
            <a:avLst/>
          </a:prstGeom>
          <a:solidFill>
            <a:srgbClr val="8B4A3A"/>
          </a:solidFill>
          <a:ln w="12700">
            <a:solidFill>
              <a:srgbClr val="F2EC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5532120"/>
            <a:ext cx="228600" cy="164592"/>
          </a:xfrm>
          <a:prstGeom prst="rect">
            <a:avLst/>
          </a:prstGeom>
          <a:solidFill>
            <a:srgbClr val="137D77"/>
          </a:solidFill>
          <a:ln w="12700">
            <a:solidFill>
              <a:srgbClr val="137D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38528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0" y="5532120"/>
            <a:ext cx="228600" cy="164592"/>
          </a:xfrm>
          <a:prstGeom prst="rect">
            <a:avLst/>
          </a:prstGeom>
          <a:solidFill>
            <a:srgbClr val="9CC4C1"/>
          </a:solidFill>
          <a:ln w="12700">
            <a:solidFill>
              <a:srgbClr val="9CC4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(BACKTEST)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5532120"/>
            <a:ext cx="228600" cy="164592"/>
          </a:xfrm>
          <a:prstGeom prst="rect">
            <a:avLst/>
          </a:prstGeom>
          <a:solidFill>
            <a:srgbClr val="8B4A3A"/>
          </a:solidFill>
          <a:ln w="12700">
            <a:solidFill>
              <a:srgbClr val="8B4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052560" y="5532120"/>
            <a:ext cx="228600" cy="164592"/>
          </a:xfrm>
          <a:prstGeom prst="rect">
            <a:avLst/>
          </a:prstGeom>
          <a:solidFill>
            <a:srgbClr val="C9C2B5"/>
          </a:solidFill>
          <a:ln w="12700">
            <a:solidFill>
              <a:srgbClr val="C9C2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45168" y="5486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FINAL TRAIN FIT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02    Three expanding-window backtest folds inside the training portion. Gray segments after each validation window are still part of training data and were used when fitting the final model. The held-out test (20%) was only touched once, at the end.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MODELS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families,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clear winner.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tested six model families plus a baseline to map the boundary between models that can and cannot capture nonlinear time effects. Scored on MAE, RMSE, R², and WMAPE — the last is volume-weighted, the right thing to watch when station traffic ranges from a handful to several thousand riders per hour.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6576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Dummy mean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the global mean. The performance floor.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3017520"/>
            <a:ext cx="36576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3484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43484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Regularized linear regression. What time features alone can do.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3017520"/>
            <a:ext cx="36576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108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0" y="33832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SGD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0" y="38404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idea as Ridge, fit by stochastic gradient descent.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617720"/>
            <a:ext cx="36576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Poisson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Log-link GLM — natural for counts, but underperforms here due to overdispersion.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4617720"/>
            <a:ext cx="36576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4983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43484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Gradient-boosted trees. Workhorse of tabular regression.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4617720"/>
            <a:ext cx="3657600" cy="0"/>
          </a:xfrm>
          <a:prstGeom prst="line">
            <a:avLst/>
          </a:prstGeom>
          <a:noFill/>
          <a:ln w="19050">
            <a:solidFill>
              <a:srgbClr val="137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29600" y="4983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22960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Leaf-wise gradient boosting, faster on data this large.  ⟵ winner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MODELS (CONT.)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·  RIDERS PER STATION-HOUR  ·  LOWER IS BETTER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402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31520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240280"/>
          <a:ext cx="4297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731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6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6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6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64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7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(final)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7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7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7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(d8)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(lr.10)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(d6)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(L2)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2EC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CD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0" y="50749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 models cluster around R² 0.96; linear models hit a ceiling near R² 0.90 because the relationship between time and ridership is fundamentally nonlinear.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315200" y="59893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RMSE values and dummy-baseline results are in the final report and Modeling notebook.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BACKTESTING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Holding up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time.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results are encouraging, but they're one slice of time. The real question is whether the model holds up when the training window slides forward. I ran three sequential backtest folds and tracked R² and MAE on each.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68680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686800" y="2697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R² ACROSS 3 FOLDS</a:t>
            </a:r>
            <a:endParaRPr lang="en-US" sz="10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3017520"/>
          <a:ext cx="109728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03    R² across three time-ordered backtest folds. LightGBM holds near 0.96 with std dev 0.007; linear baselines sit near 0.90 with more drift between folds.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FINAL  ·  TEST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final </a:t>
            </a:r>
            <a:pPr indent="0" marL="0">
              <a:buNone/>
            </a:pPr>
            <a:r>
              <a:rPr lang="en-US" sz="40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scoreline.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743200" cy="0"/>
          </a:xfrm>
          <a:prstGeom prst="line">
            <a:avLst/>
          </a:prstGeom>
          <a:noFill/>
          <a:ln w="19050">
            <a:solidFill>
              <a:srgbClr val="137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231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·  PER STATION-HR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286000"/>
            <a:ext cx="2743200" cy="0"/>
          </a:xfrm>
          <a:prstGeom prst="line">
            <a:avLst/>
          </a:prstGeom>
          <a:noFill/>
          <a:ln w="19050">
            <a:solidFill>
              <a:srgbClr val="137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4231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94.5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4747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2286000"/>
            <a:ext cx="2743200" cy="0"/>
          </a:xfrm>
          <a:prstGeom prst="line">
            <a:avLst/>
          </a:prstGeom>
          <a:noFill/>
          <a:ln w="19050">
            <a:solidFill>
              <a:srgbClr val="137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4231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0.981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30936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 ·  HELD-OUT TEST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0" y="2286000"/>
            <a:ext cx="2743200" cy="0"/>
          </a:xfrm>
          <a:prstGeom prst="line">
            <a:avLst/>
          </a:prstGeom>
          <a:noFill/>
          <a:ln w="19050">
            <a:solidFill>
              <a:srgbClr val="137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24231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11.5%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914400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WMAPE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109728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CONFIGURATION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·  127 leaves  ·  learning rate 0.05  ·  300 trees  ·  min_child_samples 50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held-out 20% of the timeline — never touched during model selection or hyperparameter search — the model achieves an R² of 0.981 with MAE of 36.4 riders per station-hour. WMAPE of 11.5% means the model is off by about a tenth of actual volume on average.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FINAL  ·  TEST RESULTS (CONT.)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live.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20240"/>
          <a:ext cx="64008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9202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VS. REALITY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0" y="22860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 sample of station-hours from the held-out test set. The points sit tight against the diagonal across most of the volume range. The largest errors come from rare high-volume station-hours, where ridership can spike sharply above normal patterns.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0" y="3931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RESIDUALS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0" y="429768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 are centered near zero. The right tail is heavier — the model undershoots some peak-hour cases rather than systematically overpredicting quieter periods. RMSE picks up most of its weight from those rare misses.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FIG 04    Random sample of ~120 station-hours from the 1,508,577-row held-out test set. Shown for visual readability — not the full set.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means, </a:t>
            </a:r>
            <a:pPr indent="0" marL="0">
              <a:buNone/>
            </a:pPr>
            <a:r>
              <a:rPr lang="en-US" sz="36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what's next.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48640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Tree-based models clearly win.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gradient-boosted configuration sat at or above R² 0.95. Linear models capped near R² 0.90 because the time–ridership relationship is fundamentally nonlinear with two daily peaks.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48640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21031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 across time is real.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LightGBM held R² 0.961 ± 0.007 across three forward-chaining folds. The stability suggests weekly retraining may not be necessary; a quarterly retraining cadence could be tested.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48640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features look central.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 features appear to carry much of the useful signal, especially lag_168h, which captures station-specific weekly rhythm. (Feature-importance plot not computed in this notebook — claim is structural, not measured.)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0" y="4069080"/>
            <a:ext cx="5486400" cy="0"/>
          </a:xfrm>
          <a:prstGeom prst="line">
            <a:avLst/>
          </a:prstGeom>
          <a:noFill/>
          <a:ln w="15875">
            <a:solidFill>
              <a:srgbClr val="137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160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push from here.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49377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3E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a negative binomial GLM to address the Poisson overdispersion result. Add weather and event features for peak-day surprises. Build a per-station residual diagnostic.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MTA RIDERSHIP FORECASTING  ·  CAPSTONE TWO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EC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 ·  THANK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846320" y="365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00" kern="0" dirty="0">
                <a:solidFill>
                  <a:srgbClr val="137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155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0" dirty="0">
                <a:solidFill>
                  <a:srgbClr val="0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i="1" dirty="0">
                <a:solidFill>
                  <a:srgbClr val="137D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5852160"/>
            <a:ext cx="10972800" cy="0"/>
          </a:xfrm>
          <a:prstGeom prst="line">
            <a:avLst/>
          </a:prstGeom>
          <a:noFill/>
          <a:ln w="6350">
            <a:solidFill>
              <a:srgbClr val="C9C2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 S. CHHURA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GITHUB.COM/ESHCHHURA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778240" y="5989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778240" y="6217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·  R² 0.981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the next hour of the subway</dc:title>
  <dc:subject>PptxGenJS Presentation</dc:subject>
  <dc:creator>Esh S. Chhura</dc:creator>
  <cp:lastModifiedBy>Esh S. Chhura</cp:lastModifiedBy>
  <cp:revision>1</cp:revision>
  <dcterms:created xsi:type="dcterms:W3CDTF">2026-04-30T18:03:50Z</dcterms:created>
  <dcterms:modified xsi:type="dcterms:W3CDTF">2026-04-30T18:03:50Z</dcterms:modified>
</cp:coreProperties>
</file>